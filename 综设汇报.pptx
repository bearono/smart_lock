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71" r:id="rId2"/>
    <p:sldId id="257" r:id="rId3"/>
    <p:sldId id="258" r:id="rId4"/>
    <p:sldId id="261" r:id="rId5"/>
    <p:sldId id="259" r:id="rId6"/>
    <p:sldId id="263" r:id="rId7"/>
    <p:sldId id="264" r:id="rId8"/>
    <p:sldId id="265" r:id="rId9"/>
    <p:sldId id="267" r:id="rId10"/>
    <p:sldId id="273" r:id="rId11"/>
    <p:sldId id="268" r:id="rId12"/>
    <p:sldId id="269" r:id="rId13"/>
    <p:sldId id="270" r:id="rId14"/>
    <p:sldId id="272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9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349" autoAdjust="0"/>
  </p:normalViewPr>
  <p:slideViewPr>
    <p:cSldViewPr snapToGrid="0">
      <p:cViewPr varScale="1">
        <p:scale>
          <a:sx n="110" d="100"/>
          <a:sy n="110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zh-CN" altLang="en-US" sz="1600" b="1">
                <a:solidFill>
                  <a:srgbClr val="17233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聚合吞吐率（</a:t>
            </a:r>
            <a:r>
              <a:rPr lang="en-US" sz="1600" b="1">
                <a:solidFill>
                  <a:srgbClr val="17233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RPS）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RPS</c:v>
          </c:tx>
          <c:spPr>
            <a:solidFill>
              <a:srgbClr val="29559A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>
                    <a:latin typeface="楷体" panose="02010609060101010101" pitchFamily="49" charset="-122"/>
                    <a:ea typeface="楷体" panose="02010609060101010101" pitchFamily="49" charset="-122"/>
                  </a:defRPr>
                </a:pPr>
                <a:endParaRPr lang="zh-CN"/>
              </a:p>
            </c:tx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10 并发</c:v>
              </c:pt>
              <c:pt idx="1">
                <c:v>50 并发</c:v>
              </c:pt>
              <c:pt idx="2">
                <c:v>100 并发</c:v>
              </c:pt>
            </c:strLit>
          </c:cat>
          <c:val>
            <c:numLit>
              <c:formatCode>General</c:formatCode>
              <c:ptCount val="3"/>
              <c:pt idx="0">
                <c:v>3.27</c:v>
              </c:pt>
              <c:pt idx="1">
                <c:v>16.02</c:v>
              </c:pt>
              <c:pt idx="2">
                <c:v>31.67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B9D-45E6-9255-462D189AB873}"/>
            </c:ext>
          </c:extLst>
        </c:ser>
        <c:dLbls>
          <c:dLblPos val="outEnd"/>
          <c:showLegendKey val="1"/>
          <c:showVal val="1"/>
          <c:showCatName val="1"/>
          <c:showSerName val="1"/>
          <c:showPercent val="1"/>
          <c:showBubbleSize val="1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5"/>
          <c:min val="0"/>
        </c:scaling>
        <c:delete val="0"/>
        <c:axPos val="l"/>
        <c:majorGridlines>
          <c:spPr>
            <a:ln w="9525">
              <a:solidFill>
                <a:srgbClr val="CDD8E7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spPr>
    <a:solidFill>
      <a:srgbClr val="FFFFFF"/>
    </a:solidFill>
    <a:ln w="9525">
      <a:solidFill>
        <a:srgbClr val="CDD8E7"/>
      </a:solidFill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zh-CN" altLang="en-US" sz="1600" b="1">
                <a:solidFill>
                  <a:srgbClr val="17233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完成请求数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请求数</c:v>
          </c:tx>
          <c:spPr>
            <a:solidFill>
              <a:srgbClr val="ED7D31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>
                    <a:latin typeface="楷体" panose="02010609060101010101" pitchFamily="49" charset="-122"/>
                    <a:ea typeface="楷体" panose="02010609060101010101" pitchFamily="49" charset="-122"/>
                  </a:defRPr>
                </a:pPr>
                <a:endParaRPr lang="zh-CN"/>
              </a:p>
            </c:tx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10 并发</c:v>
              </c:pt>
              <c:pt idx="1">
                <c:v>50 并发</c:v>
              </c:pt>
              <c:pt idx="2">
                <c:v>100 并发</c:v>
              </c:pt>
            </c:strLit>
          </c:cat>
          <c:val>
            <c:numLit>
              <c:formatCode>General</c:formatCode>
              <c:ptCount val="3"/>
              <c:pt idx="0">
                <c:v>391</c:v>
              </c:pt>
              <c:pt idx="1">
                <c:v>1917</c:v>
              </c:pt>
              <c:pt idx="2">
                <c:v>3786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1D2-4C2B-A7C5-8073E27EC98B}"/>
            </c:ext>
          </c:extLst>
        </c:ser>
        <c:dLbls>
          <c:dLblPos val="outEnd"/>
          <c:showLegendKey val="1"/>
          <c:showVal val="1"/>
          <c:showCatName val="1"/>
          <c:showSerName val="1"/>
          <c:showPercent val="1"/>
          <c:showBubbleSize val="1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4200"/>
          <c:min val="0"/>
        </c:scaling>
        <c:delete val="0"/>
        <c:axPos val="l"/>
        <c:majorGridlines>
          <c:spPr>
            <a:ln w="9525">
              <a:solidFill>
                <a:srgbClr val="CDD8E7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spPr>
    <a:solidFill>
      <a:srgbClr val="FFFFFF"/>
    </a:solidFill>
    <a:ln w="9525">
      <a:solidFill>
        <a:srgbClr val="CDD8E7"/>
      </a:solidFill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zh-CN" altLang="en-US" sz="1600" b="1">
                <a:solidFill>
                  <a:srgbClr val="17233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五阶段平均耗时（秒）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平均耗时</c:v>
          </c:tx>
          <c:spPr>
            <a:solidFill>
              <a:srgbClr val="ED7D31"/>
            </a:solidFill>
          </c:spPr>
          <c:invertIfNegative val="1"/>
          <c:dLbls>
            <c:delete val="1"/>
          </c:dLbls>
          <c:cat>
            <c:strLit>
              <c:ptCount val="5"/>
              <c:pt idx="0">
                <c:v>登录</c:v>
              </c:pt>
              <c:pt idx="1">
                <c:v>发起认证</c:v>
              </c:pt>
              <c:pt idx="2">
                <c:v>人脸回传</c:v>
              </c:pt>
              <c:pt idx="3">
                <c:v>确认授权</c:v>
              </c:pt>
              <c:pt idx="4">
                <c:v>令牌校验</c:v>
              </c:pt>
            </c:strLit>
          </c:cat>
          <c:val>
            <c:numLit>
              <c:formatCode>General</c:formatCode>
              <c:ptCount val="5"/>
              <c:pt idx="0">
                <c:v>2.2400000000000002</c:v>
              </c:pt>
              <c:pt idx="1">
                <c:v>4.53</c:v>
              </c:pt>
              <c:pt idx="2">
                <c:v>2.06</c:v>
              </c:pt>
              <c:pt idx="3">
                <c:v>2.09</c:v>
              </c:pt>
              <c:pt idx="4">
                <c:v>2.0699999999999998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C54-4E3C-87EF-994EDBE37E7D}"/>
            </c:ext>
          </c:extLst>
        </c:ser>
        <c:dLbls>
          <c:dLblPos val="outEnd"/>
          <c:showLegendKey val="1"/>
          <c:showVal val="1"/>
          <c:showCatName val="1"/>
          <c:showSerName val="1"/>
          <c:showPercent val="1"/>
          <c:showBubbleSize val="1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00">
                <a:solidFill>
                  <a:srgbClr val="666666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5.2"/>
          <c:min val="0"/>
        </c:scaling>
        <c:delete val="0"/>
        <c:axPos val="l"/>
        <c:majorGridlines>
          <c:spPr>
            <a:ln w="9525">
              <a:solidFill>
                <a:srgbClr val="CDD8E7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spPr>
    <a:solidFill>
      <a:srgbClr val="FFFFFF"/>
    </a:solidFill>
    <a:ln w="9525">
      <a:solidFill>
        <a:srgbClr val="CDD8E7"/>
      </a:solidFill>
      <a:prstDash val="solid"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-US" sz="1800" b="1" dirty="0">
                <a:solidFill>
                  <a:srgbClr val="17233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ROC</a:t>
            </a:r>
            <a:r>
              <a:rPr lang="zh-CN" altLang="en-US" sz="1800" b="1" dirty="0">
                <a:solidFill>
                  <a:srgbClr val="17233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曲线</a:t>
            </a:r>
          </a:p>
        </c:rich>
      </c:tx>
      <c:overlay val="0"/>
    </c:title>
    <c:autoTitleDeleted val="0"/>
    <c:plotArea>
      <c:layout/>
      <c:lineChart>
        <c:grouping val="standard"/>
        <c:varyColors val="1"/>
        <c:ser>
          <c:idx val="0"/>
          <c:order val="0"/>
          <c:tx>
            <c:v>TAR</c:v>
          </c:tx>
          <c:spPr>
            <a:ln w="28575">
              <a:solidFill>
                <a:srgbClr val="29559A"/>
              </a:solidFill>
              <a:prstDash val="solid"/>
            </a:ln>
          </c:spPr>
          <c:marker>
            <c:symbol val="circle"/>
            <c:size val="5"/>
          </c:marker>
          <c:cat>
            <c:numLit>
              <c:formatCode>General</c:formatCode>
              <c:ptCount val="8"/>
              <c:pt idx="0">
                <c:v>0</c:v>
              </c:pt>
              <c:pt idx="1">
                <c:v>0.01</c:v>
              </c:pt>
              <c:pt idx="2">
                <c:v>0.02</c:v>
              </c:pt>
              <c:pt idx="3">
                <c:v>0.05</c:v>
              </c:pt>
              <c:pt idx="4">
                <c:v>0.08</c:v>
              </c:pt>
              <c:pt idx="5">
                <c:v>0.16</c:v>
              </c:pt>
              <c:pt idx="6">
                <c:v>0.35</c:v>
              </c:pt>
              <c:pt idx="7">
                <c:v>1</c:v>
              </c:pt>
            </c:numLit>
          </c:cat>
          <c:val>
            <c:numLit>
              <c:formatCode>0.0</c:formatCode>
              <c:ptCount val="8"/>
              <c:pt idx="0">
                <c:v>0</c:v>
              </c:pt>
              <c:pt idx="1">
                <c:v>0.57999999999999996</c:v>
              </c:pt>
              <c:pt idx="2">
                <c:v>0.76</c:v>
              </c:pt>
              <c:pt idx="3">
                <c:v>0.9</c:v>
              </c:pt>
              <c:pt idx="4">
                <c:v>0.94</c:v>
              </c:pt>
              <c:pt idx="5">
                <c:v>0.97</c:v>
              </c:pt>
              <c:pt idx="6">
                <c:v>0.99</c:v>
              </c:pt>
              <c:pt idx="7">
                <c:v>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208F-43CB-8E6E-2D9FFECD9B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/>
                  <a:t>FPR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5B6575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CDD8E7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/>
                  <a:t>TAR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50112"/>
        <c:crosses val="autoZero"/>
        <c:crossBetween val="between"/>
        <c:majorUnit val="0.2"/>
      </c:valAx>
    </c:plotArea>
    <c:plotVisOnly val="1"/>
    <c:dispBlanksAs val="zero"/>
    <c:showDLblsOverMax val="1"/>
  </c:chart>
  <c:spPr>
    <a:solidFill>
      <a:srgbClr val="FFFFFF"/>
    </a:solidFill>
    <a:ln w="9525">
      <a:solidFill>
        <a:srgbClr val="CDD8E7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961A3-10FE-A1A7-ACD5-AF84B2B9A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600171-BFBF-5CAB-E757-E602B21FB1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7449B2-F670-C0B2-67A9-EF389A3219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2957D-9D7E-E14F-A4D8-83BA252FAF7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38313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FF89C8-BBB7-0BEF-695D-ED5A06442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88B91AC-3C65-A079-A056-232C27C78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666CFD-B9FA-1642-1823-0FCF905A02E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9155287-9AA5-4BC2-8435-FBD22703DE06}" type="datetimeFigureOut">
              <a:t>2026/7/2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CE6E0D-41D1-B919-E992-10F7D83FA83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519F39-DB3A-8E70-2940-F162F6FF96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0DFB155-2F43-4592-8D57-2C4469F8B16E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D42CAD-5D05-D915-D2DF-7438400A7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DAE8D6-489B-69D5-9049-8FFD670DB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4B20C6-F4A6-5135-CDAB-B1BCAB0D7BF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9155287-9AA5-4BC2-8435-FBD22703DE06}" type="datetimeFigureOut">
              <a:t>2026/7/2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E0CF2B-0239-C0C3-E344-E901B4E633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B49B9E-90B0-8B72-F7EF-8A79FEC6B2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0DFB155-2F43-4592-8D57-2C4469F8B16E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0B5FE9-82B6-213E-3F50-A2E1993B5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08E48A-3FC4-A8DE-5D42-417952DC1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61450F-C078-1451-6D7C-468C064D23E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9155287-9AA5-4BC2-8435-FBD22703DE06}" type="datetimeFigureOut">
              <a:t>2026/7/2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D203E9-3C84-6D5A-8BE5-B13D49081D8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17E0C6-7E62-0378-1C2F-5893C33CF2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0DFB155-2F43-4592-8D57-2C4469F8B16E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5B55CE-079A-4837-249C-A0CADE03D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EBEFDB-D650-83AD-F7F3-ABC5285AA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97DA540-D497-35C0-28AA-022FBDA3514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B37D71-50B7-2D69-6506-CD7B65789CC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9155287-9AA5-4BC2-8435-FBD22703DE06}" type="datetimeFigureOut">
              <a:t>2026/7/2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497C52-3B88-922D-2F41-62E42E62B01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7DA679-0A1A-584A-D794-557E3C4654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0DFB155-2F43-4592-8D57-2C4469F8B16E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BE780A-36C2-41AA-A157-21BF68BF0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82FD6E-8100-BC21-C679-73B9F1577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1B458BD-7979-DA1B-5EE4-69239E293B2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987AF46-CB7D-2931-3AC7-5D791AE898B0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E4D4030-6CBD-5FDE-B0E9-7A9E8C63AB66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8CF958E-34CB-6C74-BE3F-80ED2CD7CBA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9155287-9AA5-4BC2-8435-FBD22703DE06}" type="datetimeFigureOut">
              <a:t>2026/7/2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8B7D16-DBC2-E20B-BC93-2EDF68272EF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273DEB8-9618-7AED-5C0F-B10808C2C8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0DFB155-2F43-4592-8D57-2C4469F8B16E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B6CC21-8168-9D8D-F914-C4176F01E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DDE2B0F-FBF9-DDE4-2CDA-95410776831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9155287-9AA5-4BC2-8435-FBD22703DE06}" type="datetimeFigureOut">
              <a:t>2026/7/2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1B791AD-A268-1317-F606-C8D7BD155D4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8CBD18F-C8FF-A8DC-03DF-9CA8BFFAD5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0DFB155-2F43-4592-8D57-2C4469F8B16E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2B3FF20-4D3A-D8FF-85FF-06200CBD2B7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9155287-9AA5-4BC2-8435-FBD22703DE06}" type="datetimeFigureOut">
              <a:t>2026/7/2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D58BDD6-1F73-1590-3124-8900A2656F5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D55D0D-D7E6-FF95-6631-FB9644CF69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0DFB155-2F43-4592-8D57-2C4469F8B16E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E7FF5D-EC30-9790-F0FC-52C8F2335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4EFA4D-2001-D0EB-CBB9-57F54A87D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08EB4C0-898C-A7B4-8ABE-9872DBA8E8A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453F44-7360-A421-64FB-86A17FE0565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9155287-9AA5-4BC2-8435-FBD22703DE06}" type="datetimeFigureOut">
              <a:t>2026/7/2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CDCEEE-42BF-64A2-9D1A-29D35A44585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D9239B-5D79-2D50-2890-F675DB9627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0DFB155-2F43-4592-8D57-2C4469F8B16E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83D107-3310-2E5B-968F-60B591EE4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FC1B3A9-035A-EBBC-7FAD-844E0553BB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2F5EBC6-177B-73A3-A0AF-40F126D188F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66E6DBD-94FB-09E0-075A-4DB47F4B85F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9155287-9AA5-4BC2-8435-FBD22703DE06}" type="datetimeFigureOut">
              <a:t>2026/7/2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FEF0BBA-F19B-AABF-040E-A1EF80CE5F3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ACADFE-AA94-5A6A-0720-2CD1B4F45B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0DFB155-2F43-4592-8D57-2C4469F8B16E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D09605-38A4-41F1-6E32-3CC8CFEF2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8920B8D-B8C2-D755-CD3A-F92EC4D07E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4EF912-22E7-F085-BBED-1E5BA2B61A5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9155287-9AA5-4BC2-8435-FBD22703DE06}" type="datetimeFigureOut">
              <a:t>2026/7/2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2DA10C-6B1D-3E97-6E76-81002E62C16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02E5A7-CC0F-2106-CF91-60C3E5C61A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0DFB155-2F43-4592-8D57-2C4469F8B16E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50B46FE-1610-FB7E-E997-CC7EEDBA3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88A3ECC-5837-4A77-35E3-9313ABD00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691DC1-CA5D-3AFA-A141-2019CB5371F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9155287-9AA5-4BC2-8435-FBD22703DE06}" type="datetimeFigureOut">
              <a:t>2026/7/2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36A766-BAF7-3BC8-E572-2CF229FB507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ED2D57-DC62-5D32-B406-F9926779B7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0DFB155-2F43-4592-8D57-2C4469F8B16E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ditabl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FBD6133-8C40-2E62-0D04-7D651F889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AABF77-6D3D-6A44-0BFD-1943C37C4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C3FE8B-069D-A52A-BC45-5A0840F9EC7A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155287-9AA5-4BC2-8435-FBD22703DE06}" type="datetimeFigureOut">
              <a:t>2026/7/2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746347-444B-554F-97CC-537C2ADE70D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5165EC-3331-8B0B-6199-8BFDDC27435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DFB155-2F43-4592-8D57-2C4469F8B16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Abstract Business Powerpoint Backgrounds">
            <a:extLst>
              <a:ext uri="{FF2B5EF4-FFF2-40B4-BE49-F238E27FC236}">
                <a16:creationId xmlns:a16="http://schemas.microsoft.com/office/drawing/2014/main" id="{491A6909-D2A9-37A9-2FBE-E1B9A8DBFC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3" name="Picture 6" descr="simple and cool abstract background design suitable for ppt backgrounds and  others, ppt backgrounds 17439825 Vector Art at Vecteezy">
            <a:extLst>
              <a:ext uri="{FF2B5EF4-FFF2-40B4-BE49-F238E27FC236}">
                <a16:creationId xmlns:a16="http://schemas.microsoft.com/office/drawing/2014/main" id="{6D1F6FBB-0A87-3D3E-B73D-0749E37C4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4311BE1-6F86-1C7F-2EA4-2366BCA4C11E}"/>
              </a:ext>
            </a:extLst>
          </p:cNvPr>
          <p:cNvSpPr txBox="1"/>
          <p:nvPr/>
        </p:nvSpPr>
        <p:spPr>
          <a:xfrm>
            <a:off x="8264013" y="5989214"/>
            <a:ext cx="4023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2026.7.2</a:t>
            </a:r>
            <a:endParaRPr lang="zh-CN" altLang="en-US" sz="2000" dirty="0">
              <a:solidFill>
                <a:schemeClr val="bg1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691574-D85F-F928-3006-493E31384489}"/>
              </a:ext>
            </a:extLst>
          </p:cNvPr>
          <p:cNvSpPr txBox="1"/>
          <p:nvPr/>
        </p:nvSpPr>
        <p:spPr>
          <a:xfrm>
            <a:off x="6543464" y="3429000"/>
            <a:ext cx="51612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——</a:t>
            </a:r>
            <a:r>
              <a:rPr lang="zh-CN" altLang="en-US" sz="2400" dirty="0">
                <a:solidFill>
                  <a:schemeClr val="bg1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网安大二下综合设计期末答辩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E67A7BA-F0D2-177E-DA01-183A0145B088}"/>
              </a:ext>
            </a:extLst>
          </p:cNvPr>
          <p:cNvSpPr/>
          <p:nvPr/>
        </p:nvSpPr>
        <p:spPr>
          <a:xfrm>
            <a:off x="1335728" y="2138391"/>
            <a:ext cx="9520555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7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智能家居摄像头门锁</a:t>
            </a:r>
            <a:r>
              <a:rPr lang="en-US" altLang="zh-CN" sz="7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72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ⅠI</a:t>
            </a:r>
            <a:endParaRPr lang="zh-CN" altLang="en-US" sz="72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8493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矩形 924">
            <a:extLst>
              <a:ext uri="{FF2B5EF4-FFF2-40B4-BE49-F238E27FC236}">
                <a16:creationId xmlns:a16="http://schemas.microsoft.com/office/drawing/2014/main" id="{EF206BDF-1559-C2F2-43C8-11A58FEAE3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3178" cy="510540"/>
          </a:xfrm>
          <a:prstGeom prst="rect">
            <a:avLst/>
          </a:prstGeom>
          <a:solidFill>
            <a:srgbClr val="2955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27" name="文本框 926">
            <a:extLst>
              <a:ext uri="{FF2B5EF4-FFF2-40B4-BE49-F238E27FC236}">
                <a16:creationId xmlns:a16="http://schemas.microsoft.com/office/drawing/2014/main" id="{B4C12BDD-67D4-4B90-A2DF-3CBEF474A073}"/>
              </a:ext>
            </a:extLst>
          </p:cNvPr>
          <p:cNvSpPr>
            <a:spLocks noGrp="1"/>
          </p:cNvSpPr>
          <p:nvPr/>
        </p:nvSpPr>
        <p:spPr>
          <a:xfrm>
            <a:off x="6298131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认证流程</a:t>
            </a:r>
          </a:p>
        </p:txBody>
      </p:sp>
      <p:sp>
        <p:nvSpPr>
          <p:cNvPr id="928" name="文本框 927">
            <a:extLst>
              <a:ext uri="{FF2B5EF4-FFF2-40B4-BE49-F238E27FC236}">
                <a16:creationId xmlns:a16="http://schemas.microsoft.com/office/drawing/2014/main" id="{75DF5E1B-A3C5-3D2B-632E-E9FAD5E3E94B}"/>
              </a:ext>
            </a:extLst>
          </p:cNvPr>
          <p:cNvSpPr>
            <a:spLocks noGrp="1"/>
          </p:cNvSpPr>
          <p:nvPr/>
        </p:nvSpPr>
        <p:spPr>
          <a:xfrm>
            <a:off x="4811216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系统架构</a:t>
            </a:r>
          </a:p>
        </p:txBody>
      </p:sp>
      <p:sp>
        <p:nvSpPr>
          <p:cNvPr id="929" name="文本框 928">
            <a:extLst>
              <a:ext uri="{FF2B5EF4-FFF2-40B4-BE49-F238E27FC236}">
                <a16:creationId xmlns:a16="http://schemas.microsoft.com/office/drawing/2014/main" id="{CB2BCDAE-A9CF-8A5D-DD26-0302E177E248}"/>
              </a:ext>
            </a:extLst>
          </p:cNvPr>
          <p:cNvSpPr>
            <a:spLocks noGrp="1"/>
          </p:cNvSpPr>
          <p:nvPr/>
        </p:nvSpPr>
        <p:spPr>
          <a:xfrm>
            <a:off x="7798009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核心技术</a:t>
            </a:r>
          </a:p>
        </p:txBody>
      </p:sp>
      <p:sp>
        <p:nvSpPr>
          <p:cNvPr id="930" name="文本框 929">
            <a:extLst>
              <a:ext uri="{FF2B5EF4-FFF2-40B4-BE49-F238E27FC236}">
                <a16:creationId xmlns:a16="http://schemas.microsoft.com/office/drawing/2014/main" id="{3D13CED5-2D49-616D-4796-211D41A62A5B}"/>
              </a:ext>
            </a:extLst>
          </p:cNvPr>
          <p:cNvSpPr>
            <a:spLocks noGrp="1"/>
          </p:cNvSpPr>
          <p:nvPr/>
        </p:nvSpPr>
        <p:spPr>
          <a:xfrm>
            <a:off x="9297887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测试结果</a:t>
            </a:r>
          </a:p>
        </p:txBody>
      </p:sp>
      <p:sp>
        <p:nvSpPr>
          <p:cNvPr id="931" name="文本框 930">
            <a:extLst>
              <a:ext uri="{FF2B5EF4-FFF2-40B4-BE49-F238E27FC236}">
                <a16:creationId xmlns:a16="http://schemas.microsoft.com/office/drawing/2014/main" id="{2BC8ADA3-2E93-CE86-94FC-67DD6565085E}"/>
              </a:ext>
            </a:extLst>
          </p:cNvPr>
          <p:cNvSpPr>
            <a:spLocks noGrp="1"/>
          </p:cNvSpPr>
          <p:nvPr/>
        </p:nvSpPr>
        <p:spPr>
          <a:xfrm>
            <a:off x="10797765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 err="1">
                <a:solidFill>
                  <a:schemeClr val="bg1"/>
                </a:solidFill>
                <a:latin typeface="黑体"/>
                <a:ea typeface="黑体"/>
                <a:cs typeface="黑体"/>
              </a:rPr>
              <a:t>总结展望</a:t>
            </a:r>
            <a:endParaRPr sz="2000" dirty="0">
              <a:solidFill>
                <a:schemeClr val="bg1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923" name="Google Shape;1606;p77">
            <a:extLst>
              <a:ext uri="{FF2B5EF4-FFF2-40B4-BE49-F238E27FC236}">
                <a16:creationId xmlns:a16="http://schemas.microsoft.com/office/drawing/2014/main" id="{DAB435B3-4DA6-C35E-2BBB-8528D6A98D3C}"/>
              </a:ext>
            </a:extLst>
          </p:cNvPr>
          <p:cNvSpPr>
            <a:spLocks noGrp="1"/>
          </p:cNvSpPr>
          <p:nvPr/>
        </p:nvSpPr>
        <p:spPr>
          <a:xfrm>
            <a:off x="3199916" y="0"/>
            <a:ext cx="1439124" cy="510540"/>
          </a:xfrm>
          <a:custGeom>
            <a:avLst/>
            <a:gdLst/>
            <a:ahLst/>
            <a:cxnLst/>
            <a:rect l="l" t="t" r="r" b="b"/>
            <a:pathLst>
              <a:path w="9235" h="10000">
                <a:moveTo>
                  <a:pt x="0" y="0"/>
                </a:moveTo>
                <a:lnTo>
                  <a:pt x="0" y="10000"/>
                </a:lnTo>
                <a:lnTo>
                  <a:pt x="6992" y="10000"/>
                </a:lnTo>
                <a:lnTo>
                  <a:pt x="9235" y="4853"/>
                </a:lnTo>
                <a:lnTo>
                  <a:pt x="699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4" name="文本框 923">
            <a:extLst>
              <a:ext uri="{FF2B5EF4-FFF2-40B4-BE49-F238E27FC236}">
                <a16:creationId xmlns:a16="http://schemas.microsoft.com/office/drawing/2014/main" id="{E688A2F4-9EFC-FD89-CD0E-7A043EEB9E4D}"/>
              </a:ext>
            </a:extLst>
          </p:cNvPr>
          <p:cNvSpPr>
            <a:spLocks noGrp="1"/>
          </p:cNvSpPr>
          <p:nvPr/>
        </p:nvSpPr>
        <p:spPr>
          <a:xfrm>
            <a:off x="3285408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 err="1">
                <a:solidFill>
                  <a:srgbClr val="29559A"/>
                </a:solidFill>
                <a:latin typeface="黑体"/>
                <a:ea typeface="黑体"/>
                <a:cs typeface="黑体"/>
              </a:rPr>
              <a:t>项目背景</a:t>
            </a:r>
            <a:endParaRPr sz="2000" dirty="0">
              <a:solidFill>
                <a:srgbClr val="29559A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932" name="Google Shape;532;p36">
            <a:extLst>
              <a:ext uri="{FF2B5EF4-FFF2-40B4-BE49-F238E27FC236}">
                <a16:creationId xmlns:a16="http://schemas.microsoft.com/office/drawing/2014/main" id="{6F98E871-560E-357B-4395-0415C970FF3F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87630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9pPr>
          </a:lstStyle>
          <a:p>
            <a:pPr>
              <a:defRPr sz="2025" b="1">
                <a:solidFill>
                  <a:srgbClr val="17233C"/>
                </a:solidFill>
              </a:defRPr>
            </a:pPr>
            <a:r>
              <a:rPr sz="2400" b="0" dirty="0" err="1">
                <a:solidFill>
                  <a:srgbClr val="17233C"/>
                </a:solidFill>
                <a:latin typeface="楷体"/>
                <a:ea typeface="楷体"/>
                <a:cs typeface="楷体"/>
              </a:rPr>
              <a:t>总体目标</a:t>
            </a:r>
            <a:endParaRPr sz="2400" b="0" dirty="0">
              <a:solidFill>
                <a:srgbClr val="17233C"/>
              </a:solidFill>
              <a:latin typeface="楷体"/>
              <a:ea typeface="楷体"/>
              <a:cs typeface="楷体"/>
            </a:endParaRPr>
          </a:p>
        </p:txBody>
      </p:sp>
      <p:sp>
        <p:nvSpPr>
          <p:cNvPr id="933" name="Google Shape;1593;p77">
            <a:extLst>
              <a:ext uri="{FF2B5EF4-FFF2-40B4-BE49-F238E27FC236}">
                <a16:creationId xmlns:a16="http://schemas.microsoft.com/office/drawing/2014/main" id="{45D427E6-2C03-8BC4-C3FE-7FA583FB8F8E}"/>
              </a:ext>
            </a:extLst>
          </p:cNvPr>
          <p:cNvSpPr>
            <a:spLocks noGrp="1"/>
          </p:cNvSpPr>
          <p:nvPr/>
        </p:nvSpPr>
        <p:spPr>
          <a:xfrm>
            <a:off x="118215" y="693470"/>
            <a:ext cx="424710" cy="355891"/>
          </a:xfrm>
          <a:custGeom>
            <a:avLst/>
            <a:gdLst/>
            <a:ahLst/>
            <a:cxnLst/>
            <a:rect l="l" t="t" r="r" b="b"/>
            <a:pathLst>
              <a:path w="1956" h="2684">
                <a:moveTo>
                  <a:pt x="1" y="0"/>
                </a:moveTo>
                <a:lnTo>
                  <a:pt x="787" y="1342"/>
                </a:lnTo>
                <a:lnTo>
                  <a:pt x="1" y="2683"/>
                </a:lnTo>
                <a:lnTo>
                  <a:pt x="1955" y="1342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1000">
                <a:srgbClr val="FFFFFF"/>
              </a:gs>
              <a:gs pos="46000">
                <a:srgbClr val="869FC6"/>
              </a:gs>
              <a:gs pos="62000">
                <a:srgbClr val="29559A"/>
              </a:gs>
            </a:gsLst>
            <a:lin ang="2400000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81270680-4D43-9E6B-16FD-AB26D28A1A44}"/>
              </a:ext>
            </a:extLst>
          </p:cNvPr>
          <p:cNvSpPr>
            <a:spLocks noGrp="1"/>
          </p:cNvSpPr>
          <p:nvPr/>
        </p:nvSpPr>
        <p:spPr>
          <a:xfrm>
            <a:off x="488560" y="1588184"/>
            <a:ext cx="5191125" cy="3381375"/>
          </a:xfrm>
          <a:prstGeom prst="roundRect">
            <a:avLst>
              <a:gd name="adj" fmla="val 2254"/>
            </a:avLst>
          </a:prstGeom>
          <a:solidFill>
            <a:srgbClr val="F4F7FB"/>
          </a:solidFill>
          <a:ln w="19050">
            <a:solidFill>
              <a:srgbClr val="5B9BD5"/>
            </a:solidFill>
            <a:prstDash val="dash"/>
          </a:ln>
        </p:spPr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60F1BA84-618B-DB02-67D8-71915A2C5A39}"/>
              </a:ext>
            </a:extLst>
          </p:cNvPr>
          <p:cNvSpPr>
            <a:spLocks noGrp="1"/>
          </p:cNvSpPr>
          <p:nvPr/>
        </p:nvSpPr>
        <p:spPr>
          <a:xfrm>
            <a:off x="6155935" y="1588184"/>
            <a:ext cx="5191125" cy="3381375"/>
          </a:xfrm>
          <a:prstGeom prst="roundRect">
            <a:avLst>
              <a:gd name="adj" fmla="val 2254"/>
            </a:avLst>
          </a:prstGeom>
          <a:solidFill>
            <a:srgbClr val="F4F7FB"/>
          </a:solidFill>
          <a:ln w="19050">
            <a:solidFill>
              <a:srgbClr val="5B9BD5"/>
            </a:solidFill>
            <a:prstDash val="dash"/>
          </a:ln>
        </p:spPr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01D34FB-7EE0-807A-A48F-D9A8A409487F}"/>
              </a:ext>
            </a:extLst>
          </p:cNvPr>
          <p:cNvSpPr txBox="1"/>
          <p:nvPr/>
        </p:nvSpPr>
        <p:spPr>
          <a:xfrm>
            <a:off x="642424" y="1661211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前期基础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0D30A11-9399-2F2F-832E-46A807404006}"/>
              </a:ext>
            </a:extLst>
          </p:cNvPr>
          <p:cNvSpPr txBox="1"/>
          <p:nvPr/>
        </p:nvSpPr>
        <p:spPr>
          <a:xfrm>
            <a:off x="6310421" y="1661211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本学期主要工作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5603267-03FD-83F7-9952-7977F720FF1C}"/>
              </a:ext>
            </a:extLst>
          </p:cNvPr>
          <p:cNvSpPr txBox="1"/>
          <p:nvPr/>
        </p:nvSpPr>
        <p:spPr>
          <a:xfrm>
            <a:off x="642424" y="2365246"/>
            <a:ext cx="480131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完成前后端分离与账号登录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实现门锁状态、远程控制与告警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接入摄像头采集与人脸模板匹配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4.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采用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AES-CBC+ECC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保护通信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D8BB187-36EF-3810-7B0C-5DB6D5A95AC5}"/>
              </a:ext>
            </a:extLst>
          </p:cNvPr>
          <p:cNvSpPr txBox="1"/>
          <p:nvPr/>
        </p:nvSpPr>
        <p:spPr>
          <a:xfrm>
            <a:off x="6371381" y="2365246"/>
            <a:ext cx="46483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TOTP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多因素认证与设备绑定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AuthSession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统一管理认证状态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设计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60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秒一次性</a:t>
            </a:r>
            <a:r>
              <a:rPr lang="en-US" altLang="zh-CN" sz="24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UnlockToken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4.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引入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SPAKE2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安全信封与防重放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5.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增加访客授权、设备心跳与审计日志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D7289A3-85E5-E606-74DD-C5B0FE381FE4}"/>
              </a:ext>
            </a:extLst>
          </p:cNvPr>
          <p:cNvSpPr>
            <a:spLocks noGrp="1"/>
          </p:cNvSpPr>
          <p:nvPr/>
        </p:nvSpPr>
        <p:spPr>
          <a:xfrm>
            <a:off x="488560" y="5213106"/>
            <a:ext cx="10858500" cy="590551"/>
          </a:xfrm>
          <a:prstGeom prst="roundRect">
            <a:avLst>
              <a:gd name="adj" fmla="val 10000"/>
            </a:avLst>
          </a:prstGeom>
          <a:solidFill>
            <a:srgbClr val="EAF1FA"/>
          </a:solidFill>
          <a:ln w="9525">
            <a:solidFill>
              <a:srgbClr val="EAF1FA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0D6E8D2-21A5-1FC9-347C-6BA8380BF9D4}"/>
              </a:ext>
            </a:extLst>
          </p:cNvPr>
          <p:cNvSpPr txBox="1"/>
          <p:nvPr/>
        </p:nvSpPr>
        <p:spPr>
          <a:xfrm>
            <a:off x="558807" y="524367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研究问题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4BBF9C3-AFB3-8B06-DC84-440F43AAFDF0}"/>
              </a:ext>
            </a:extLst>
          </p:cNvPr>
          <p:cNvSpPr txBox="1"/>
          <p:nvPr/>
        </p:nvSpPr>
        <p:spPr>
          <a:xfrm>
            <a:off x="2439151" y="5305233"/>
            <a:ext cx="86485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如何在控制使用复杂度的同时，降低凭证泄露、设备伪造与消息重放风险？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C6F6F43-816C-2231-1CED-4F9DCBCD38BD}"/>
              </a:ext>
            </a:extLst>
          </p:cNvPr>
          <p:cNvSpPr>
            <a:spLocks noGrp="1"/>
          </p:cNvSpPr>
          <p:nvPr/>
        </p:nvSpPr>
        <p:spPr>
          <a:xfrm>
            <a:off x="488560" y="5968786"/>
            <a:ext cx="10858500" cy="590551"/>
          </a:xfrm>
          <a:prstGeom prst="roundRect">
            <a:avLst>
              <a:gd name="adj" fmla="val 10000"/>
            </a:avLst>
          </a:prstGeom>
          <a:solidFill>
            <a:srgbClr val="EAF1FA"/>
          </a:solidFill>
          <a:ln w="9525">
            <a:solidFill>
              <a:srgbClr val="EAF1FA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D430345-7D54-2BB6-BA44-7CD4333B163E}"/>
              </a:ext>
            </a:extLst>
          </p:cNvPr>
          <p:cNvSpPr txBox="1"/>
          <p:nvPr/>
        </p:nvSpPr>
        <p:spPr>
          <a:xfrm>
            <a:off x="558807" y="5968786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核心贡献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53E0D33-6A48-B139-1FF0-1A107AFAE276}"/>
              </a:ext>
            </a:extLst>
          </p:cNvPr>
          <p:cNvSpPr txBox="1"/>
          <p:nvPr/>
        </p:nvSpPr>
        <p:spPr>
          <a:xfrm>
            <a:off x="2439151" y="6047203"/>
            <a:ext cx="78790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将分散的认证因子整合为会话状态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一次性令牌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审计日志的授权闭环</a:t>
            </a:r>
          </a:p>
        </p:txBody>
      </p:sp>
    </p:spTree>
    <p:extLst>
      <p:ext uri="{BB962C8B-B14F-4D97-AF65-F5344CB8AC3E}">
        <p14:creationId xmlns:p14="http://schemas.microsoft.com/office/powerpoint/2010/main" val="610279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E175D22-4D17-F2C6-D309-0EDEA7B2F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42" y="684319"/>
            <a:ext cx="11057207" cy="6079766"/>
          </a:xfrm>
          <a:prstGeom prst="rect">
            <a:avLst/>
          </a:prstGeom>
        </p:spPr>
      </p:pic>
      <p:sp>
        <p:nvSpPr>
          <p:cNvPr id="925" name="矩形 924">
            <a:extLst>
              <a:ext uri="{FF2B5EF4-FFF2-40B4-BE49-F238E27FC236}">
                <a16:creationId xmlns:a16="http://schemas.microsoft.com/office/drawing/2014/main" id="{EF206BDF-1559-C2F2-43C8-11A58FEAE3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3178" cy="510540"/>
          </a:xfrm>
          <a:prstGeom prst="rect">
            <a:avLst/>
          </a:prstGeom>
          <a:solidFill>
            <a:srgbClr val="2955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27" name="文本框 926">
            <a:extLst>
              <a:ext uri="{FF2B5EF4-FFF2-40B4-BE49-F238E27FC236}">
                <a16:creationId xmlns:a16="http://schemas.microsoft.com/office/drawing/2014/main" id="{B4C12BDD-67D4-4B90-A2DF-3CBEF474A073}"/>
              </a:ext>
            </a:extLst>
          </p:cNvPr>
          <p:cNvSpPr>
            <a:spLocks noGrp="1"/>
          </p:cNvSpPr>
          <p:nvPr/>
        </p:nvSpPr>
        <p:spPr>
          <a:xfrm>
            <a:off x="6298131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认证流程</a:t>
            </a:r>
          </a:p>
        </p:txBody>
      </p:sp>
      <p:sp>
        <p:nvSpPr>
          <p:cNvPr id="929" name="文本框 928">
            <a:extLst>
              <a:ext uri="{FF2B5EF4-FFF2-40B4-BE49-F238E27FC236}">
                <a16:creationId xmlns:a16="http://schemas.microsoft.com/office/drawing/2014/main" id="{CB2BCDAE-A9CF-8A5D-DD26-0302E177E248}"/>
              </a:ext>
            </a:extLst>
          </p:cNvPr>
          <p:cNvSpPr>
            <a:spLocks noGrp="1"/>
          </p:cNvSpPr>
          <p:nvPr/>
        </p:nvSpPr>
        <p:spPr>
          <a:xfrm>
            <a:off x="7798009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核心技术</a:t>
            </a:r>
          </a:p>
        </p:txBody>
      </p:sp>
      <p:sp>
        <p:nvSpPr>
          <p:cNvPr id="930" name="文本框 929">
            <a:extLst>
              <a:ext uri="{FF2B5EF4-FFF2-40B4-BE49-F238E27FC236}">
                <a16:creationId xmlns:a16="http://schemas.microsoft.com/office/drawing/2014/main" id="{3D13CED5-2D49-616D-4796-211D41A62A5B}"/>
              </a:ext>
            </a:extLst>
          </p:cNvPr>
          <p:cNvSpPr>
            <a:spLocks noGrp="1"/>
          </p:cNvSpPr>
          <p:nvPr/>
        </p:nvSpPr>
        <p:spPr>
          <a:xfrm>
            <a:off x="9297887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测试结果</a:t>
            </a:r>
          </a:p>
        </p:txBody>
      </p:sp>
      <p:sp>
        <p:nvSpPr>
          <p:cNvPr id="931" name="文本框 930">
            <a:extLst>
              <a:ext uri="{FF2B5EF4-FFF2-40B4-BE49-F238E27FC236}">
                <a16:creationId xmlns:a16="http://schemas.microsoft.com/office/drawing/2014/main" id="{2BC8ADA3-2E93-CE86-94FC-67DD6565085E}"/>
              </a:ext>
            </a:extLst>
          </p:cNvPr>
          <p:cNvSpPr>
            <a:spLocks noGrp="1"/>
          </p:cNvSpPr>
          <p:nvPr/>
        </p:nvSpPr>
        <p:spPr>
          <a:xfrm>
            <a:off x="10797765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总结展望</a:t>
            </a:r>
          </a:p>
        </p:txBody>
      </p:sp>
      <p:sp>
        <p:nvSpPr>
          <p:cNvPr id="923" name="Google Shape;1606;p77">
            <a:extLst>
              <a:ext uri="{FF2B5EF4-FFF2-40B4-BE49-F238E27FC236}">
                <a16:creationId xmlns:a16="http://schemas.microsoft.com/office/drawing/2014/main" id="{DAB435B3-4DA6-C35E-2BBB-8528D6A98D3C}"/>
              </a:ext>
            </a:extLst>
          </p:cNvPr>
          <p:cNvSpPr>
            <a:spLocks noGrp="1"/>
          </p:cNvSpPr>
          <p:nvPr/>
        </p:nvSpPr>
        <p:spPr>
          <a:xfrm>
            <a:off x="4749684" y="0"/>
            <a:ext cx="1439124" cy="510540"/>
          </a:xfrm>
          <a:custGeom>
            <a:avLst/>
            <a:gdLst/>
            <a:ahLst/>
            <a:cxnLst/>
            <a:rect l="l" t="t" r="r" b="b"/>
            <a:pathLst>
              <a:path w="9235" h="10000">
                <a:moveTo>
                  <a:pt x="0" y="0"/>
                </a:moveTo>
                <a:lnTo>
                  <a:pt x="0" y="10000"/>
                </a:lnTo>
                <a:lnTo>
                  <a:pt x="6992" y="10000"/>
                </a:lnTo>
                <a:lnTo>
                  <a:pt x="9235" y="4853"/>
                </a:lnTo>
                <a:lnTo>
                  <a:pt x="699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4" name="文本框 923">
            <a:extLst>
              <a:ext uri="{FF2B5EF4-FFF2-40B4-BE49-F238E27FC236}">
                <a16:creationId xmlns:a16="http://schemas.microsoft.com/office/drawing/2014/main" id="{E688A2F4-9EFC-FD89-CD0E-7A043EEB9E4D}"/>
              </a:ext>
            </a:extLst>
          </p:cNvPr>
          <p:cNvSpPr>
            <a:spLocks noGrp="1"/>
          </p:cNvSpPr>
          <p:nvPr/>
        </p:nvSpPr>
        <p:spPr>
          <a:xfrm>
            <a:off x="3285408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 err="1">
                <a:solidFill>
                  <a:schemeClr val="bg1"/>
                </a:solidFill>
                <a:latin typeface="黑体"/>
                <a:ea typeface="黑体"/>
                <a:cs typeface="黑体"/>
              </a:rPr>
              <a:t>项目背景</a:t>
            </a:r>
            <a:endParaRPr sz="2000" dirty="0">
              <a:solidFill>
                <a:schemeClr val="bg1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928" name="文本框 927">
            <a:extLst>
              <a:ext uri="{FF2B5EF4-FFF2-40B4-BE49-F238E27FC236}">
                <a16:creationId xmlns:a16="http://schemas.microsoft.com/office/drawing/2014/main" id="{75DF5E1B-A3C5-3D2B-632E-E9FAD5E3E94B}"/>
              </a:ext>
            </a:extLst>
          </p:cNvPr>
          <p:cNvSpPr>
            <a:spLocks noGrp="1"/>
          </p:cNvSpPr>
          <p:nvPr/>
        </p:nvSpPr>
        <p:spPr>
          <a:xfrm>
            <a:off x="4749684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 err="1">
                <a:solidFill>
                  <a:srgbClr val="001942"/>
                </a:solidFill>
                <a:latin typeface="黑体"/>
                <a:ea typeface="黑体"/>
                <a:cs typeface="黑体"/>
              </a:rPr>
              <a:t>系统架构</a:t>
            </a:r>
            <a:endParaRPr sz="2000" dirty="0">
              <a:solidFill>
                <a:srgbClr val="001942"/>
              </a:solidFill>
              <a:latin typeface="黑体"/>
              <a:ea typeface="黑体"/>
              <a:cs typeface="黑体"/>
            </a:endParaRPr>
          </a:p>
        </p:txBody>
      </p:sp>
    </p:spTree>
    <p:extLst>
      <p:ext uri="{BB962C8B-B14F-4D97-AF65-F5344CB8AC3E}">
        <p14:creationId xmlns:p14="http://schemas.microsoft.com/office/powerpoint/2010/main" val="610279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639B340D-3C0A-E032-D204-C94A9599303C}"/>
              </a:ext>
            </a:extLst>
          </p:cNvPr>
          <p:cNvPicPr>
            <a:picLocks/>
          </p:cNvPicPr>
          <p:nvPr/>
        </p:nvPicPr>
        <p:blipFill>
          <a:blip r:embed="rId3"/>
          <a:srcRect l="1025" t="7204" r="1027" b="1369"/>
          <a:stretch>
            <a:fillRect/>
          </a:stretch>
        </p:blipFill>
        <p:spPr>
          <a:xfrm>
            <a:off x="745846" y="1064913"/>
            <a:ext cx="10428849" cy="5699172"/>
          </a:xfrm>
          <a:prstGeom prst="rect">
            <a:avLst/>
          </a:prstGeom>
        </p:spPr>
      </p:pic>
      <p:sp>
        <p:nvSpPr>
          <p:cNvPr id="927" name="文本框 926">
            <a:extLst>
              <a:ext uri="{FF2B5EF4-FFF2-40B4-BE49-F238E27FC236}">
                <a16:creationId xmlns:a16="http://schemas.microsoft.com/office/drawing/2014/main" id="{B4C12BDD-67D4-4B90-A2DF-3CBEF474A073}"/>
              </a:ext>
            </a:extLst>
          </p:cNvPr>
          <p:cNvSpPr>
            <a:spLocks noGrp="1"/>
          </p:cNvSpPr>
          <p:nvPr/>
        </p:nvSpPr>
        <p:spPr>
          <a:xfrm>
            <a:off x="6298131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认证流程</a:t>
            </a:r>
          </a:p>
        </p:txBody>
      </p:sp>
      <p:sp>
        <p:nvSpPr>
          <p:cNvPr id="928" name="文本框 927">
            <a:extLst>
              <a:ext uri="{FF2B5EF4-FFF2-40B4-BE49-F238E27FC236}">
                <a16:creationId xmlns:a16="http://schemas.microsoft.com/office/drawing/2014/main" id="{75DF5E1B-A3C5-3D2B-632E-E9FAD5E3E94B}"/>
              </a:ext>
            </a:extLst>
          </p:cNvPr>
          <p:cNvSpPr>
            <a:spLocks noGrp="1"/>
          </p:cNvSpPr>
          <p:nvPr/>
        </p:nvSpPr>
        <p:spPr>
          <a:xfrm>
            <a:off x="4811216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系统架构</a:t>
            </a:r>
          </a:p>
        </p:txBody>
      </p:sp>
      <p:sp>
        <p:nvSpPr>
          <p:cNvPr id="929" name="文本框 928">
            <a:extLst>
              <a:ext uri="{FF2B5EF4-FFF2-40B4-BE49-F238E27FC236}">
                <a16:creationId xmlns:a16="http://schemas.microsoft.com/office/drawing/2014/main" id="{CB2BCDAE-A9CF-8A5D-DD26-0302E177E248}"/>
              </a:ext>
            </a:extLst>
          </p:cNvPr>
          <p:cNvSpPr>
            <a:spLocks noGrp="1"/>
          </p:cNvSpPr>
          <p:nvPr/>
        </p:nvSpPr>
        <p:spPr>
          <a:xfrm>
            <a:off x="7798009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核心技术</a:t>
            </a:r>
          </a:p>
        </p:txBody>
      </p:sp>
      <p:sp>
        <p:nvSpPr>
          <p:cNvPr id="930" name="文本框 929">
            <a:extLst>
              <a:ext uri="{FF2B5EF4-FFF2-40B4-BE49-F238E27FC236}">
                <a16:creationId xmlns:a16="http://schemas.microsoft.com/office/drawing/2014/main" id="{3D13CED5-2D49-616D-4796-211D41A62A5B}"/>
              </a:ext>
            </a:extLst>
          </p:cNvPr>
          <p:cNvSpPr>
            <a:spLocks noGrp="1"/>
          </p:cNvSpPr>
          <p:nvPr/>
        </p:nvSpPr>
        <p:spPr>
          <a:xfrm>
            <a:off x="9297887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测试结果</a:t>
            </a:r>
          </a:p>
        </p:txBody>
      </p:sp>
      <p:sp>
        <p:nvSpPr>
          <p:cNvPr id="931" name="文本框 930">
            <a:extLst>
              <a:ext uri="{FF2B5EF4-FFF2-40B4-BE49-F238E27FC236}">
                <a16:creationId xmlns:a16="http://schemas.microsoft.com/office/drawing/2014/main" id="{2BC8ADA3-2E93-CE86-94FC-67DD6565085E}"/>
              </a:ext>
            </a:extLst>
          </p:cNvPr>
          <p:cNvSpPr>
            <a:spLocks noGrp="1"/>
          </p:cNvSpPr>
          <p:nvPr/>
        </p:nvSpPr>
        <p:spPr>
          <a:xfrm>
            <a:off x="10797765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总结展望</a:t>
            </a:r>
          </a:p>
        </p:txBody>
      </p:sp>
      <p:sp>
        <p:nvSpPr>
          <p:cNvPr id="932" name="Google Shape;532;p36">
            <a:extLst>
              <a:ext uri="{FF2B5EF4-FFF2-40B4-BE49-F238E27FC236}">
                <a16:creationId xmlns:a16="http://schemas.microsoft.com/office/drawing/2014/main" id="{6F98E871-560E-357B-4395-0415C970FF3F}"/>
              </a:ext>
            </a:extLst>
          </p:cNvPr>
          <p:cNvSpPr>
            <a:spLocks noGrp="1"/>
          </p:cNvSpPr>
          <p:nvPr/>
        </p:nvSpPr>
        <p:spPr>
          <a:xfrm>
            <a:off x="429716" y="473466"/>
            <a:ext cx="87630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9pPr>
          </a:lstStyle>
          <a:p>
            <a:pPr>
              <a:defRPr sz="2025" b="1">
                <a:solidFill>
                  <a:srgbClr val="17233C"/>
                </a:solidFill>
              </a:defRPr>
            </a:pPr>
            <a:r>
              <a:rPr sz="2400" b="0" dirty="0" err="1">
                <a:solidFill>
                  <a:srgbClr val="001942"/>
                </a:solidFill>
                <a:latin typeface="楷体"/>
                <a:ea typeface="楷体"/>
                <a:cs typeface="楷体"/>
              </a:rPr>
              <a:t>多因</a:t>
            </a:r>
            <a:r>
              <a:rPr lang="zh-CN" altLang="en-US" sz="2400" b="0" dirty="0">
                <a:solidFill>
                  <a:srgbClr val="001942"/>
                </a:solidFill>
                <a:latin typeface="楷体"/>
                <a:ea typeface="楷体"/>
                <a:cs typeface="楷体"/>
              </a:rPr>
              <a:t>子</a:t>
            </a:r>
            <a:r>
              <a:rPr sz="2400" b="0" dirty="0" err="1">
                <a:solidFill>
                  <a:srgbClr val="001942"/>
                </a:solidFill>
                <a:latin typeface="楷体"/>
                <a:ea typeface="楷体"/>
                <a:cs typeface="楷体"/>
              </a:rPr>
              <a:t>开门认证流程</a:t>
            </a:r>
            <a:endParaRPr sz="2400" b="0" dirty="0">
              <a:solidFill>
                <a:srgbClr val="001942"/>
              </a:solidFill>
              <a:latin typeface="楷体"/>
              <a:ea typeface="楷体"/>
              <a:cs typeface="楷体"/>
            </a:endParaRPr>
          </a:p>
        </p:txBody>
      </p:sp>
      <p:sp>
        <p:nvSpPr>
          <p:cNvPr id="933" name="Google Shape;1593;p77">
            <a:extLst>
              <a:ext uri="{FF2B5EF4-FFF2-40B4-BE49-F238E27FC236}">
                <a16:creationId xmlns:a16="http://schemas.microsoft.com/office/drawing/2014/main" id="{45D427E6-2C03-8BC4-C3FE-7FA583FB8F8E}"/>
              </a:ext>
            </a:extLst>
          </p:cNvPr>
          <p:cNvSpPr>
            <a:spLocks noGrp="1"/>
          </p:cNvSpPr>
          <p:nvPr/>
        </p:nvSpPr>
        <p:spPr>
          <a:xfrm>
            <a:off x="69415" y="583468"/>
            <a:ext cx="424710" cy="355891"/>
          </a:xfrm>
          <a:custGeom>
            <a:avLst/>
            <a:gdLst/>
            <a:ahLst/>
            <a:cxnLst/>
            <a:rect l="l" t="t" r="r" b="b"/>
            <a:pathLst>
              <a:path w="1956" h="2684">
                <a:moveTo>
                  <a:pt x="1" y="0"/>
                </a:moveTo>
                <a:lnTo>
                  <a:pt x="787" y="1342"/>
                </a:lnTo>
                <a:lnTo>
                  <a:pt x="1" y="2683"/>
                </a:lnTo>
                <a:lnTo>
                  <a:pt x="1955" y="1342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1000">
                <a:srgbClr val="FFFFFF"/>
              </a:gs>
              <a:gs pos="46000">
                <a:srgbClr val="869FC6"/>
              </a:gs>
              <a:gs pos="62000">
                <a:srgbClr val="29559A"/>
              </a:gs>
            </a:gsLst>
            <a:lin ang="2400000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927070F-278B-DC75-73E5-6CE198E51B0D}"/>
              </a:ext>
            </a:extLst>
          </p:cNvPr>
          <p:cNvSpPr txBox="1"/>
          <p:nvPr/>
        </p:nvSpPr>
        <p:spPr>
          <a:xfrm>
            <a:off x="3048000" y="324550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DF3A43E-3AA3-2106-04B5-4F576E560D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3178" cy="510540"/>
          </a:xfrm>
          <a:prstGeom prst="rect">
            <a:avLst/>
          </a:prstGeom>
          <a:solidFill>
            <a:srgbClr val="2955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Google Shape;1606;p77">
            <a:extLst>
              <a:ext uri="{FF2B5EF4-FFF2-40B4-BE49-F238E27FC236}">
                <a16:creationId xmlns:a16="http://schemas.microsoft.com/office/drawing/2014/main" id="{6275B22A-5C3E-BD9E-485C-7B2A891C7303}"/>
              </a:ext>
            </a:extLst>
          </p:cNvPr>
          <p:cNvSpPr>
            <a:spLocks noGrp="1"/>
          </p:cNvSpPr>
          <p:nvPr/>
        </p:nvSpPr>
        <p:spPr>
          <a:xfrm>
            <a:off x="6298131" y="-4396"/>
            <a:ext cx="1439124" cy="510540"/>
          </a:xfrm>
          <a:custGeom>
            <a:avLst/>
            <a:gdLst/>
            <a:ahLst/>
            <a:cxnLst/>
            <a:rect l="l" t="t" r="r" b="b"/>
            <a:pathLst>
              <a:path w="9235" h="10000">
                <a:moveTo>
                  <a:pt x="0" y="0"/>
                </a:moveTo>
                <a:lnTo>
                  <a:pt x="0" y="10000"/>
                </a:lnTo>
                <a:lnTo>
                  <a:pt x="6992" y="10000"/>
                </a:lnTo>
                <a:lnTo>
                  <a:pt x="9235" y="4853"/>
                </a:lnTo>
                <a:lnTo>
                  <a:pt x="699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文本框 927">
            <a:extLst>
              <a:ext uri="{FF2B5EF4-FFF2-40B4-BE49-F238E27FC236}">
                <a16:creationId xmlns:a16="http://schemas.microsoft.com/office/drawing/2014/main" id="{3EAF351B-9153-E224-E031-12030FC9FA8A}"/>
              </a:ext>
            </a:extLst>
          </p:cNvPr>
          <p:cNvSpPr>
            <a:spLocks noGrp="1"/>
          </p:cNvSpPr>
          <p:nvPr/>
        </p:nvSpPr>
        <p:spPr>
          <a:xfrm>
            <a:off x="4749684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 err="1">
                <a:solidFill>
                  <a:schemeClr val="bg1"/>
                </a:solidFill>
                <a:latin typeface="黑体"/>
                <a:ea typeface="黑体"/>
                <a:cs typeface="黑体"/>
              </a:rPr>
              <a:t>系统架构</a:t>
            </a:r>
            <a:endParaRPr sz="2000" dirty="0">
              <a:solidFill>
                <a:schemeClr val="bg1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" name="文本框 926">
            <a:extLst>
              <a:ext uri="{FF2B5EF4-FFF2-40B4-BE49-F238E27FC236}">
                <a16:creationId xmlns:a16="http://schemas.microsoft.com/office/drawing/2014/main" id="{81FED527-CAEC-67FD-22D4-072032B2920C}"/>
              </a:ext>
            </a:extLst>
          </p:cNvPr>
          <p:cNvSpPr>
            <a:spLocks noGrp="1"/>
          </p:cNvSpPr>
          <p:nvPr/>
        </p:nvSpPr>
        <p:spPr>
          <a:xfrm>
            <a:off x="6298131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 err="1">
                <a:solidFill>
                  <a:srgbClr val="001942"/>
                </a:solidFill>
                <a:latin typeface="黑体"/>
                <a:ea typeface="黑体"/>
                <a:cs typeface="黑体"/>
              </a:rPr>
              <a:t>认证流程</a:t>
            </a:r>
            <a:endParaRPr sz="2000" dirty="0">
              <a:solidFill>
                <a:srgbClr val="001942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6" name="文本框 928">
            <a:extLst>
              <a:ext uri="{FF2B5EF4-FFF2-40B4-BE49-F238E27FC236}">
                <a16:creationId xmlns:a16="http://schemas.microsoft.com/office/drawing/2014/main" id="{465FD1CF-47A0-6B0A-2150-A6BFA6033C32}"/>
              </a:ext>
            </a:extLst>
          </p:cNvPr>
          <p:cNvSpPr>
            <a:spLocks noGrp="1"/>
          </p:cNvSpPr>
          <p:nvPr/>
        </p:nvSpPr>
        <p:spPr>
          <a:xfrm>
            <a:off x="7798009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核心技术</a:t>
            </a:r>
          </a:p>
        </p:txBody>
      </p:sp>
      <p:sp>
        <p:nvSpPr>
          <p:cNvPr id="7" name="文本框 929">
            <a:extLst>
              <a:ext uri="{FF2B5EF4-FFF2-40B4-BE49-F238E27FC236}">
                <a16:creationId xmlns:a16="http://schemas.microsoft.com/office/drawing/2014/main" id="{6FF73D77-6660-06B3-F0D5-D37285D7459C}"/>
              </a:ext>
            </a:extLst>
          </p:cNvPr>
          <p:cNvSpPr>
            <a:spLocks noGrp="1"/>
          </p:cNvSpPr>
          <p:nvPr/>
        </p:nvSpPr>
        <p:spPr>
          <a:xfrm>
            <a:off x="9297887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测试结果</a:t>
            </a:r>
          </a:p>
        </p:txBody>
      </p:sp>
      <p:sp>
        <p:nvSpPr>
          <p:cNvPr id="8" name="文本框 930">
            <a:extLst>
              <a:ext uri="{FF2B5EF4-FFF2-40B4-BE49-F238E27FC236}">
                <a16:creationId xmlns:a16="http://schemas.microsoft.com/office/drawing/2014/main" id="{34665FC8-F99E-CF01-AD70-A7BADAE753AD}"/>
              </a:ext>
            </a:extLst>
          </p:cNvPr>
          <p:cNvSpPr>
            <a:spLocks noGrp="1"/>
          </p:cNvSpPr>
          <p:nvPr/>
        </p:nvSpPr>
        <p:spPr>
          <a:xfrm>
            <a:off x="10797765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总结展望</a:t>
            </a:r>
          </a:p>
        </p:txBody>
      </p:sp>
      <p:sp>
        <p:nvSpPr>
          <p:cNvPr id="9" name="文本框 923">
            <a:extLst>
              <a:ext uri="{FF2B5EF4-FFF2-40B4-BE49-F238E27FC236}">
                <a16:creationId xmlns:a16="http://schemas.microsoft.com/office/drawing/2014/main" id="{F81089B5-63DB-73D4-DA2D-ED9EE786FFA9}"/>
              </a:ext>
            </a:extLst>
          </p:cNvPr>
          <p:cNvSpPr>
            <a:spLocks noGrp="1"/>
          </p:cNvSpPr>
          <p:nvPr/>
        </p:nvSpPr>
        <p:spPr>
          <a:xfrm>
            <a:off x="3285408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 err="1">
                <a:solidFill>
                  <a:schemeClr val="bg1"/>
                </a:solidFill>
                <a:latin typeface="黑体"/>
                <a:ea typeface="黑体"/>
                <a:cs typeface="黑体"/>
              </a:rPr>
              <a:t>项目背景</a:t>
            </a:r>
            <a:endParaRPr sz="2000" dirty="0">
              <a:solidFill>
                <a:schemeClr val="bg1"/>
              </a:solidFill>
              <a:latin typeface="黑体"/>
              <a:ea typeface="黑体"/>
              <a:cs typeface="黑体"/>
            </a:endParaRPr>
          </a:p>
        </p:txBody>
      </p:sp>
    </p:spTree>
    <p:extLst>
      <p:ext uri="{BB962C8B-B14F-4D97-AF65-F5344CB8AC3E}">
        <p14:creationId xmlns:p14="http://schemas.microsoft.com/office/powerpoint/2010/main" val="610279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屏幕上有个电视&#10;&#10;AI 生成的内容可能不正确。">
            <a:extLst>
              <a:ext uri="{FF2B5EF4-FFF2-40B4-BE49-F238E27FC236}">
                <a16:creationId xmlns:a16="http://schemas.microsoft.com/office/drawing/2014/main" id="{D24886AE-6FEE-5F74-EE34-6D76AF5C4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8178" y="1372948"/>
            <a:ext cx="6262412" cy="4366670"/>
          </a:xfrm>
          <a:prstGeom prst="rect">
            <a:avLst/>
          </a:prstGeom>
        </p:spPr>
      </p:pic>
      <p:pic>
        <p:nvPicPr>
          <p:cNvPr id="4" name="图片 3" descr="屏幕上有个电视&#10;&#10;AI 生成的内容可能不正确。">
            <a:extLst>
              <a:ext uri="{FF2B5EF4-FFF2-40B4-BE49-F238E27FC236}">
                <a16:creationId xmlns:a16="http://schemas.microsoft.com/office/drawing/2014/main" id="{77ACA250-B303-D512-050D-B3F80FAD6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8474" y="1372948"/>
            <a:ext cx="6262412" cy="4366670"/>
          </a:xfrm>
          <a:prstGeom prst="rect">
            <a:avLst/>
          </a:prstGeom>
        </p:spPr>
      </p:pic>
      <p:sp>
        <p:nvSpPr>
          <p:cNvPr id="927" name="文本框 926">
            <a:extLst>
              <a:ext uri="{FF2B5EF4-FFF2-40B4-BE49-F238E27FC236}">
                <a16:creationId xmlns:a16="http://schemas.microsoft.com/office/drawing/2014/main" id="{B4C12BDD-67D4-4B90-A2DF-3CBEF474A073}"/>
              </a:ext>
            </a:extLst>
          </p:cNvPr>
          <p:cNvSpPr>
            <a:spLocks noGrp="1"/>
          </p:cNvSpPr>
          <p:nvPr/>
        </p:nvSpPr>
        <p:spPr>
          <a:xfrm>
            <a:off x="6298131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认证流程</a:t>
            </a:r>
          </a:p>
        </p:txBody>
      </p:sp>
      <p:sp>
        <p:nvSpPr>
          <p:cNvPr id="928" name="文本框 927">
            <a:extLst>
              <a:ext uri="{FF2B5EF4-FFF2-40B4-BE49-F238E27FC236}">
                <a16:creationId xmlns:a16="http://schemas.microsoft.com/office/drawing/2014/main" id="{75DF5E1B-A3C5-3D2B-632E-E9FAD5E3E94B}"/>
              </a:ext>
            </a:extLst>
          </p:cNvPr>
          <p:cNvSpPr>
            <a:spLocks noGrp="1"/>
          </p:cNvSpPr>
          <p:nvPr/>
        </p:nvSpPr>
        <p:spPr>
          <a:xfrm>
            <a:off x="4811216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系统架构</a:t>
            </a:r>
          </a:p>
        </p:txBody>
      </p:sp>
      <p:sp>
        <p:nvSpPr>
          <p:cNvPr id="929" name="文本框 928">
            <a:extLst>
              <a:ext uri="{FF2B5EF4-FFF2-40B4-BE49-F238E27FC236}">
                <a16:creationId xmlns:a16="http://schemas.microsoft.com/office/drawing/2014/main" id="{CB2BCDAE-A9CF-8A5D-DD26-0302E177E248}"/>
              </a:ext>
            </a:extLst>
          </p:cNvPr>
          <p:cNvSpPr>
            <a:spLocks noGrp="1"/>
          </p:cNvSpPr>
          <p:nvPr/>
        </p:nvSpPr>
        <p:spPr>
          <a:xfrm>
            <a:off x="7798009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核心技术</a:t>
            </a:r>
          </a:p>
        </p:txBody>
      </p:sp>
      <p:sp>
        <p:nvSpPr>
          <p:cNvPr id="930" name="文本框 929">
            <a:extLst>
              <a:ext uri="{FF2B5EF4-FFF2-40B4-BE49-F238E27FC236}">
                <a16:creationId xmlns:a16="http://schemas.microsoft.com/office/drawing/2014/main" id="{3D13CED5-2D49-616D-4796-211D41A62A5B}"/>
              </a:ext>
            </a:extLst>
          </p:cNvPr>
          <p:cNvSpPr>
            <a:spLocks noGrp="1"/>
          </p:cNvSpPr>
          <p:nvPr/>
        </p:nvSpPr>
        <p:spPr>
          <a:xfrm>
            <a:off x="9297887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测试结果</a:t>
            </a:r>
          </a:p>
        </p:txBody>
      </p:sp>
      <p:sp>
        <p:nvSpPr>
          <p:cNvPr id="931" name="文本框 930">
            <a:extLst>
              <a:ext uri="{FF2B5EF4-FFF2-40B4-BE49-F238E27FC236}">
                <a16:creationId xmlns:a16="http://schemas.microsoft.com/office/drawing/2014/main" id="{2BC8ADA3-2E93-CE86-94FC-67DD6565085E}"/>
              </a:ext>
            </a:extLst>
          </p:cNvPr>
          <p:cNvSpPr>
            <a:spLocks noGrp="1"/>
          </p:cNvSpPr>
          <p:nvPr/>
        </p:nvSpPr>
        <p:spPr>
          <a:xfrm>
            <a:off x="10797765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总结展望</a:t>
            </a:r>
          </a:p>
        </p:txBody>
      </p:sp>
      <p:sp>
        <p:nvSpPr>
          <p:cNvPr id="932" name="Google Shape;532;p36">
            <a:extLst>
              <a:ext uri="{FF2B5EF4-FFF2-40B4-BE49-F238E27FC236}">
                <a16:creationId xmlns:a16="http://schemas.microsoft.com/office/drawing/2014/main" id="{6F98E871-560E-357B-4395-0415C970FF3F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87630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9pPr>
          </a:lstStyle>
          <a:p>
            <a:pPr>
              <a:defRPr sz="2025" b="1">
                <a:solidFill>
                  <a:srgbClr val="17233C"/>
                </a:solidFill>
              </a:defRPr>
            </a:pPr>
            <a:r>
              <a:rPr sz="2400" b="0" dirty="0" err="1">
                <a:solidFill>
                  <a:srgbClr val="17233C"/>
                </a:solidFill>
                <a:latin typeface="楷体"/>
                <a:ea typeface="楷体"/>
                <a:cs typeface="楷体"/>
              </a:rPr>
              <a:t>系统展示</a:t>
            </a:r>
            <a:endParaRPr sz="2400" b="0" dirty="0">
              <a:solidFill>
                <a:srgbClr val="17233C"/>
              </a:solidFill>
              <a:latin typeface="楷体"/>
              <a:ea typeface="楷体"/>
              <a:cs typeface="楷体"/>
            </a:endParaRPr>
          </a:p>
        </p:txBody>
      </p:sp>
      <p:sp>
        <p:nvSpPr>
          <p:cNvPr id="933" name="Google Shape;1593;p77">
            <a:extLst>
              <a:ext uri="{FF2B5EF4-FFF2-40B4-BE49-F238E27FC236}">
                <a16:creationId xmlns:a16="http://schemas.microsoft.com/office/drawing/2014/main" id="{45D427E6-2C03-8BC4-C3FE-7FA583FB8F8E}"/>
              </a:ext>
            </a:extLst>
          </p:cNvPr>
          <p:cNvSpPr>
            <a:spLocks noGrp="1"/>
          </p:cNvSpPr>
          <p:nvPr/>
        </p:nvSpPr>
        <p:spPr>
          <a:xfrm>
            <a:off x="118215" y="660254"/>
            <a:ext cx="424710" cy="355891"/>
          </a:xfrm>
          <a:custGeom>
            <a:avLst/>
            <a:gdLst/>
            <a:ahLst/>
            <a:cxnLst/>
            <a:rect l="l" t="t" r="r" b="b"/>
            <a:pathLst>
              <a:path w="1956" h="2684">
                <a:moveTo>
                  <a:pt x="1" y="0"/>
                </a:moveTo>
                <a:lnTo>
                  <a:pt x="787" y="1342"/>
                </a:lnTo>
                <a:lnTo>
                  <a:pt x="1" y="2683"/>
                </a:lnTo>
                <a:lnTo>
                  <a:pt x="1955" y="1342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1000">
                <a:srgbClr val="FFFFFF"/>
              </a:gs>
              <a:gs pos="46000">
                <a:srgbClr val="869FC6"/>
              </a:gs>
              <a:gs pos="62000">
                <a:srgbClr val="29559A"/>
              </a:gs>
            </a:gsLst>
            <a:lin ang="2400000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97B2381-02C7-5E64-68FF-619DF20B4F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114" y="1618235"/>
            <a:ext cx="4707988" cy="398804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AA91107-BE9A-BF36-998A-524E0E7215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9787" y="1618235"/>
            <a:ext cx="4711967" cy="3866817"/>
          </a:xfrm>
          <a:prstGeom prst="rect">
            <a:avLst/>
          </a:prstGeom>
        </p:spPr>
      </p:pic>
      <p:sp>
        <p:nvSpPr>
          <p:cNvPr id="8" name="公众号：康帅PPT12-4">
            <a:extLst>
              <a:ext uri="{FF2B5EF4-FFF2-40B4-BE49-F238E27FC236}">
                <a16:creationId xmlns:a16="http://schemas.microsoft.com/office/drawing/2014/main" id="{4DDADCD3-9B50-A8CF-4A0D-F576932B3473}"/>
              </a:ext>
            </a:extLst>
          </p:cNvPr>
          <p:cNvSpPr/>
          <p:nvPr/>
        </p:nvSpPr>
        <p:spPr>
          <a:xfrm>
            <a:off x="1338862" y="5900159"/>
            <a:ext cx="3082807" cy="597278"/>
          </a:xfrm>
          <a:prstGeom prst="rect">
            <a:avLst/>
          </a:prstGeom>
          <a:solidFill>
            <a:srgbClr val="4F73AC"/>
          </a:solidFill>
          <a:ln w="12700" cap="flat" cmpd="sng" algn="ctr">
            <a:gradFill flip="none" rotWithShape="1">
              <a:gsLst>
                <a:gs pos="8000">
                  <a:schemeClr val="accent3"/>
                </a:gs>
                <a:gs pos="100000">
                  <a:schemeClr val="accent3">
                    <a:alpha val="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TOTP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动态验证码</a:t>
            </a:r>
          </a:p>
        </p:txBody>
      </p:sp>
      <p:sp>
        <p:nvSpPr>
          <p:cNvPr id="9" name="公众号：康帅PPT12-4">
            <a:extLst>
              <a:ext uri="{FF2B5EF4-FFF2-40B4-BE49-F238E27FC236}">
                <a16:creationId xmlns:a16="http://schemas.microsoft.com/office/drawing/2014/main" id="{5011774A-BA38-1BD2-750D-28C02243C35A}"/>
              </a:ext>
            </a:extLst>
          </p:cNvPr>
          <p:cNvSpPr/>
          <p:nvPr/>
        </p:nvSpPr>
        <p:spPr>
          <a:xfrm>
            <a:off x="7146474" y="5900159"/>
            <a:ext cx="3082807" cy="597278"/>
          </a:xfrm>
          <a:prstGeom prst="rect">
            <a:avLst/>
          </a:prstGeom>
          <a:solidFill>
            <a:srgbClr val="4F73AC"/>
          </a:solidFill>
          <a:ln w="12700" cap="flat" cmpd="sng" algn="ctr">
            <a:gradFill flip="none" rotWithShape="1">
              <a:gsLst>
                <a:gs pos="8000">
                  <a:schemeClr val="accent3"/>
                </a:gs>
                <a:gs pos="100000">
                  <a:schemeClr val="accent3">
                    <a:alpha val="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800" kern="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人脸识别日志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BF86DA6-C778-2038-7200-F34D10A4FB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3178" cy="510540"/>
          </a:xfrm>
          <a:prstGeom prst="rect">
            <a:avLst/>
          </a:prstGeom>
          <a:solidFill>
            <a:srgbClr val="2955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Google Shape;1606;p77">
            <a:extLst>
              <a:ext uri="{FF2B5EF4-FFF2-40B4-BE49-F238E27FC236}">
                <a16:creationId xmlns:a16="http://schemas.microsoft.com/office/drawing/2014/main" id="{17CA27AD-0A38-2278-C0B9-80B64AEED59C}"/>
              </a:ext>
            </a:extLst>
          </p:cNvPr>
          <p:cNvSpPr>
            <a:spLocks noGrp="1"/>
          </p:cNvSpPr>
          <p:nvPr/>
        </p:nvSpPr>
        <p:spPr>
          <a:xfrm>
            <a:off x="7781403" y="0"/>
            <a:ext cx="1439124" cy="510540"/>
          </a:xfrm>
          <a:custGeom>
            <a:avLst/>
            <a:gdLst/>
            <a:ahLst/>
            <a:cxnLst/>
            <a:rect l="l" t="t" r="r" b="b"/>
            <a:pathLst>
              <a:path w="9235" h="10000">
                <a:moveTo>
                  <a:pt x="0" y="0"/>
                </a:moveTo>
                <a:lnTo>
                  <a:pt x="0" y="10000"/>
                </a:lnTo>
                <a:lnTo>
                  <a:pt x="6992" y="10000"/>
                </a:lnTo>
                <a:lnTo>
                  <a:pt x="9235" y="4853"/>
                </a:lnTo>
                <a:lnTo>
                  <a:pt x="699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文本框 927">
            <a:extLst>
              <a:ext uri="{FF2B5EF4-FFF2-40B4-BE49-F238E27FC236}">
                <a16:creationId xmlns:a16="http://schemas.microsoft.com/office/drawing/2014/main" id="{9ADCB59B-7BB0-22B7-C697-4811FB392246}"/>
              </a:ext>
            </a:extLst>
          </p:cNvPr>
          <p:cNvSpPr>
            <a:spLocks noGrp="1"/>
          </p:cNvSpPr>
          <p:nvPr/>
        </p:nvSpPr>
        <p:spPr>
          <a:xfrm>
            <a:off x="4749684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 err="1">
                <a:solidFill>
                  <a:schemeClr val="bg1"/>
                </a:solidFill>
                <a:latin typeface="黑体"/>
                <a:ea typeface="黑体"/>
                <a:cs typeface="黑体"/>
              </a:rPr>
              <a:t>系统架构</a:t>
            </a:r>
            <a:endParaRPr sz="2000" dirty="0">
              <a:solidFill>
                <a:schemeClr val="bg1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2" name="文本框 926">
            <a:extLst>
              <a:ext uri="{FF2B5EF4-FFF2-40B4-BE49-F238E27FC236}">
                <a16:creationId xmlns:a16="http://schemas.microsoft.com/office/drawing/2014/main" id="{21900C49-44B2-B3AF-B304-E0F7759341F7}"/>
              </a:ext>
            </a:extLst>
          </p:cNvPr>
          <p:cNvSpPr>
            <a:spLocks noGrp="1"/>
          </p:cNvSpPr>
          <p:nvPr/>
        </p:nvSpPr>
        <p:spPr>
          <a:xfrm>
            <a:off x="6298131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认证流程</a:t>
            </a:r>
          </a:p>
        </p:txBody>
      </p:sp>
      <p:sp>
        <p:nvSpPr>
          <p:cNvPr id="13" name="文本框 928">
            <a:extLst>
              <a:ext uri="{FF2B5EF4-FFF2-40B4-BE49-F238E27FC236}">
                <a16:creationId xmlns:a16="http://schemas.microsoft.com/office/drawing/2014/main" id="{C6B8FF30-EA10-9158-F2E7-CC8A0BB1AB5C}"/>
              </a:ext>
            </a:extLst>
          </p:cNvPr>
          <p:cNvSpPr>
            <a:spLocks noGrp="1"/>
          </p:cNvSpPr>
          <p:nvPr/>
        </p:nvSpPr>
        <p:spPr>
          <a:xfrm>
            <a:off x="7798009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 err="1">
                <a:solidFill>
                  <a:srgbClr val="001942"/>
                </a:solidFill>
                <a:latin typeface="黑体"/>
                <a:ea typeface="黑体"/>
                <a:cs typeface="黑体"/>
              </a:rPr>
              <a:t>核心技术</a:t>
            </a:r>
            <a:endParaRPr sz="2000" dirty="0">
              <a:solidFill>
                <a:srgbClr val="001942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4" name="文本框 929">
            <a:extLst>
              <a:ext uri="{FF2B5EF4-FFF2-40B4-BE49-F238E27FC236}">
                <a16:creationId xmlns:a16="http://schemas.microsoft.com/office/drawing/2014/main" id="{65DCD455-48F5-8FB8-9FEF-8884D3F18BB3}"/>
              </a:ext>
            </a:extLst>
          </p:cNvPr>
          <p:cNvSpPr>
            <a:spLocks noGrp="1"/>
          </p:cNvSpPr>
          <p:nvPr/>
        </p:nvSpPr>
        <p:spPr>
          <a:xfrm>
            <a:off x="9297887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测试结果</a:t>
            </a:r>
          </a:p>
        </p:txBody>
      </p:sp>
      <p:sp>
        <p:nvSpPr>
          <p:cNvPr id="15" name="文本框 930">
            <a:extLst>
              <a:ext uri="{FF2B5EF4-FFF2-40B4-BE49-F238E27FC236}">
                <a16:creationId xmlns:a16="http://schemas.microsoft.com/office/drawing/2014/main" id="{CD8025E1-D041-CB08-A2B3-3BD6AD0D5A4C}"/>
              </a:ext>
            </a:extLst>
          </p:cNvPr>
          <p:cNvSpPr>
            <a:spLocks noGrp="1"/>
          </p:cNvSpPr>
          <p:nvPr/>
        </p:nvSpPr>
        <p:spPr>
          <a:xfrm>
            <a:off x="10797765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总结展望</a:t>
            </a:r>
          </a:p>
        </p:txBody>
      </p:sp>
      <p:sp>
        <p:nvSpPr>
          <p:cNvPr id="16" name="文本框 923">
            <a:extLst>
              <a:ext uri="{FF2B5EF4-FFF2-40B4-BE49-F238E27FC236}">
                <a16:creationId xmlns:a16="http://schemas.microsoft.com/office/drawing/2014/main" id="{106B56A4-C0CB-B9D7-9873-FBA04E02CDD2}"/>
              </a:ext>
            </a:extLst>
          </p:cNvPr>
          <p:cNvSpPr>
            <a:spLocks noGrp="1"/>
          </p:cNvSpPr>
          <p:nvPr/>
        </p:nvSpPr>
        <p:spPr>
          <a:xfrm>
            <a:off x="3285408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 err="1">
                <a:solidFill>
                  <a:schemeClr val="bg1"/>
                </a:solidFill>
                <a:latin typeface="黑体"/>
                <a:ea typeface="黑体"/>
                <a:cs typeface="黑体"/>
              </a:rPr>
              <a:t>项目背景</a:t>
            </a:r>
            <a:endParaRPr sz="2000" dirty="0">
              <a:solidFill>
                <a:schemeClr val="bg1"/>
              </a:solidFill>
              <a:latin typeface="黑体"/>
              <a:ea typeface="黑体"/>
              <a:cs typeface="黑体"/>
            </a:endParaRPr>
          </a:p>
        </p:txBody>
      </p:sp>
    </p:spTree>
    <p:extLst>
      <p:ext uri="{BB962C8B-B14F-4D97-AF65-F5344CB8AC3E}">
        <p14:creationId xmlns:p14="http://schemas.microsoft.com/office/powerpoint/2010/main" val="610279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532;p36">
            <a:extLst>
              <a:ext uri="{FF2B5EF4-FFF2-40B4-BE49-F238E27FC236}">
                <a16:creationId xmlns:a16="http://schemas.microsoft.com/office/drawing/2014/main" id="{6F98E871-560E-357B-4395-0415C970FF3F}"/>
              </a:ext>
            </a:extLst>
          </p:cNvPr>
          <p:cNvSpPr>
            <a:spLocks noGrp="1"/>
          </p:cNvSpPr>
          <p:nvPr/>
        </p:nvSpPr>
        <p:spPr>
          <a:xfrm>
            <a:off x="542925" y="469582"/>
            <a:ext cx="87630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9pPr>
          </a:lstStyle>
          <a:p>
            <a:pPr>
              <a:defRPr sz="2025" b="1">
                <a:solidFill>
                  <a:srgbClr val="17233C"/>
                </a:solidFill>
              </a:defRPr>
            </a:pPr>
            <a:r>
              <a:rPr lang="zh-CN" altLang="en-US" sz="2400" b="0" dirty="0">
                <a:solidFill>
                  <a:srgbClr val="17233C"/>
                </a:solidFill>
                <a:latin typeface="楷体"/>
                <a:ea typeface="楷体"/>
                <a:cs typeface="楷体"/>
              </a:rPr>
              <a:t>基于</a:t>
            </a:r>
            <a:r>
              <a:rPr sz="2400" b="0" dirty="0">
                <a:solidFill>
                  <a:srgbClr val="17233C"/>
                </a:solidFill>
                <a:latin typeface="Times New Roman" panose="02020603050405020304" pitchFamily="18" charset="0"/>
                <a:ea typeface="楷体"/>
                <a:cs typeface="Times New Roman" panose="02020603050405020304" pitchFamily="18" charset="0"/>
              </a:rPr>
              <a:t>SPAKE2</a:t>
            </a:r>
            <a:r>
              <a:rPr sz="2400" b="0" dirty="0">
                <a:solidFill>
                  <a:srgbClr val="17233C"/>
                </a:solidFill>
                <a:latin typeface="楷体"/>
                <a:ea typeface="楷体"/>
                <a:cs typeface="楷体"/>
              </a:rPr>
              <a:t>安全信封通信机制</a:t>
            </a:r>
          </a:p>
        </p:txBody>
      </p:sp>
      <p:sp>
        <p:nvSpPr>
          <p:cNvPr id="933" name="Google Shape;1593;p77">
            <a:extLst>
              <a:ext uri="{FF2B5EF4-FFF2-40B4-BE49-F238E27FC236}">
                <a16:creationId xmlns:a16="http://schemas.microsoft.com/office/drawing/2014/main" id="{45D427E6-2C03-8BC4-C3FE-7FA583FB8F8E}"/>
              </a:ext>
            </a:extLst>
          </p:cNvPr>
          <p:cNvSpPr>
            <a:spLocks noGrp="1"/>
          </p:cNvSpPr>
          <p:nvPr/>
        </p:nvSpPr>
        <p:spPr>
          <a:xfrm>
            <a:off x="118215" y="562795"/>
            <a:ext cx="424710" cy="355891"/>
          </a:xfrm>
          <a:custGeom>
            <a:avLst/>
            <a:gdLst/>
            <a:ahLst/>
            <a:cxnLst/>
            <a:rect l="l" t="t" r="r" b="b"/>
            <a:pathLst>
              <a:path w="1956" h="2684">
                <a:moveTo>
                  <a:pt x="1" y="0"/>
                </a:moveTo>
                <a:lnTo>
                  <a:pt x="787" y="1342"/>
                </a:lnTo>
                <a:lnTo>
                  <a:pt x="1" y="2683"/>
                </a:lnTo>
                <a:lnTo>
                  <a:pt x="1955" y="1342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1000">
                <a:srgbClr val="FFFFFF"/>
              </a:gs>
              <a:gs pos="46000">
                <a:srgbClr val="869FC6"/>
              </a:gs>
              <a:gs pos="62000">
                <a:srgbClr val="29559A"/>
              </a:gs>
            </a:gsLst>
            <a:lin ang="2400000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4" name="矩形: 圆角 933">
            <a:extLst>
              <a:ext uri="{FF2B5EF4-FFF2-40B4-BE49-F238E27FC236}">
                <a16:creationId xmlns:a16="http://schemas.microsoft.com/office/drawing/2014/main" id="{DBCB7C38-FD0E-4126-B227-C35E6C2B96B9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2514600" cy="876300"/>
          </a:xfrm>
          <a:prstGeom prst="roundRect">
            <a:avLst>
              <a:gd name="adj" fmla="val 8696"/>
            </a:avLst>
          </a:prstGeom>
          <a:solidFill>
            <a:srgbClr val="EAF1FA"/>
          </a:solidFill>
          <a:ln w="9525">
            <a:solidFill>
              <a:srgbClr val="5B9BD5"/>
            </a:solidFill>
            <a:prstDash val="solid"/>
          </a:ln>
        </p:spPr>
      </p:sp>
      <p:sp>
        <p:nvSpPr>
          <p:cNvPr id="936" name="矩形: 圆角 935">
            <a:extLst>
              <a:ext uri="{FF2B5EF4-FFF2-40B4-BE49-F238E27FC236}">
                <a16:creationId xmlns:a16="http://schemas.microsoft.com/office/drawing/2014/main" id="{32C39586-FAF0-406F-886A-65E99A602747}"/>
              </a:ext>
            </a:extLst>
          </p:cNvPr>
          <p:cNvSpPr>
            <a:spLocks noGrp="1"/>
          </p:cNvSpPr>
          <p:nvPr/>
        </p:nvSpPr>
        <p:spPr>
          <a:xfrm>
            <a:off x="3448050" y="1571625"/>
            <a:ext cx="25146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DD8E7"/>
            </a:solidFill>
            <a:prstDash val="solid"/>
          </a:ln>
        </p:spPr>
      </p:sp>
      <p:sp>
        <p:nvSpPr>
          <p:cNvPr id="938" name="矩形 937">
            <a:extLst>
              <a:ext uri="{FF2B5EF4-FFF2-40B4-BE49-F238E27FC236}">
                <a16:creationId xmlns:a16="http://schemas.microsoft.com/office/drawing/2014/main" id="{737D558C-E16E-497A-85EE-F0DDAC03A295}"/>
              </a:ext>
            </a:extLst>
          </p:cNvPr>
          <p:cNvSpPr>
            <a:spLocks noGrp="1"/>
          </p:cNvSpPr>
          <p:nvPr/>
        </p:nvSpPr>
        <p:spPr>
          <a:xfrm>
            <a:off x="3181350" y="187642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29559A"/>
                </a:solidFill>
              </a:defRPr>
            </a:pPr>
            <a:r>
              <a:rPr sz="1500" b="1">
                <a:solidFill>
                  <a:srgbClr val="29559A"/>
                </a:solidFill>
              </a:rPr>
              <a:t>→</a:t>
            </a:r>
          </a:p>
        </p:txBody>
      </p:sp>
      <p:sp>
        <p:nvSpPr>
          <p:cNvPr id="939" name="矩形: 圆角 938">
            <a:extLst>
              <a:ext uri="{FF2B5EF4-FFF2-40B4-BE49-F238E27FC236}">
                <a16:creationId xmlns:a16="http://schemas.microsoft.com/office/drawing/2014/main" id="{DC925BF7-E9ED-42F5-B61D-72551BE0DD1E}"/>
              </a:ext>
            </a:extLst>
          </p:cNvPr>
          <p:cNvSpPr>
            <a:spLocks noGrp="1"/>
          </p:cNvSpPr>
          <p:nvPr/>
        </p:nvSpPr>
        <p:spPr>
          <a:xfrm>
            <a:off x="6229350" y="1571625"/>
            <a:ext cx="25146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DD8E7"/>
            </a:solidFill>
            <a:prstDash val="solid"/>
          </a:ln>
        </p:spPr>
      </p:sp>
      <p:sp>
        <p:nvSpPr>
          <p:cNvPr id="941" name="矩形 940">
            <a:extLst>
              <a:ext uri="{FF2B5EF4-FFF2-40B4-BE49-F238E27FC236}">
                <a16:creationId xmlns:a16="http://schemas.microsoft.com/office/drawing/2014/main" id="{AD43C970-223A-4536-90B3-ABEE1B571C37}"/>
              </a:ext>
            </a:extLst>
          </p:cNvPr>
          <p:cNvSpPr>
            <a:spLocks noGrp="1"/>
          </p:cNvSpPr>
          <p:nvPr/>
        </p:nvSpPr>
        <p:spPr>
          <a:xfrm>
            <a:off x="5962650" y="187642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29559A"/>
                </a:solidFill>
              </a:defRPr>
            </a:pPr>
            <a:r>
              <a:rPr sz="1500" b="1">
                <a:solidFill>
                  <a:srgbClr val="29559A"/>
                </a:solidFill>
              </a:rPr>
              <a:t>→</a:t>
            </a:r>
          </a:p>
        </p:txBody>
      </p:sp>
      <p:sp>
        <p:nvSpPr>
          <p:cNvPr id="942" name="矩形: 圆角 941">
            <a:extLst>
              <a:ext uri="{FF2B5EF4-FFF2-40B4-BE49-F238E27FC236}">
                <a16:creationId xmlns:a16="http://schemas.microsoft.com/office/drawing/2014/main" id="{6E0EB46A-CC08-4D8A-8556-7352C07F6A1A}"/>
              </a:ext>
            </a:extLst>
          </p:cNvPr>
          <p:cNvSpPr>
            <a:spLocks noGrp="1"/>
          </p:cNvSpPr>
          <p:nvPr/>
        </p:nvSpPr>
        <p:spPr>
          <a:xfrm>
            <a:off x="9010650" y="1571625"/>
            <a:ext cx="2514600" cy="876300"/>
          </a:xfrm>
          <a:prstGeom prst="roundRect">
            <a:avLst>
              <a:gd name="adj" fmla="val 8696"/>
            </a:avLst>
          </a:prstGeom>
          <a:solidFill>
            <a:srgbClr val="EAF1FA"/>
          </a:solidFill>
          <a:ln w="9525">
            <a:solidFill>
              <a:srgbClr val="5B9BD5"/>
            </a:solidFill>
            <a:prstDash val="solid"/>
          </a:ln>
        </p:spPr>
      </p:sp>
      <p:sp>
        <p:nvSpPr>
          <p:cNvPr id="944" name="矩形 943">
            <a:extLst>
              <a:ext uri="{FF2B5EF4-FFF2-40B4-BE49-F238E27FC236}">
                <a16:creationId xmlns:a16="http://schemas.microsoft.com/office/drawing/2014/main" id="{96D2101E-4042-4305-9E79-8AF212035947}"/>
              </a:ext>
            </a:extLst>
          </p:cNvPr>
          <p:cNvSpPr>
            <a:spLocks noGrp="1"/>
          </p:cNvSpPr>
          <p:nvPr/>
        </p:nvSpPr>
        <p:spPr>
          <a:xfrm>
            <a:off x="8743950" y="187642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29559A"/>
                </a:solidFill>
              </a:defRPr>
            </a:pPr>
            <a:r>
              <a:rPr sz="1500" b="1">
                <a:solidFill>
                  <a:srgbClr val="29559A"/>
                </a:solidFill>
              </a:rPr>
              <a:t>→</a:t>
            </a:r>
          </a:p>
        </p:txBody>
      </p:sp>
      <p:sp>
        <p:nvSpPr>
          <p:cNvPr id="945" name="矩形: 圆角 944">
            <a:extLst>
              <a:ext uri="{FF2B5EF4-FFF2-40B4-BE49-F238E27FC236}">
                <a16:creationId xmlns:a16="http://schemas.microsoft.com/office/drawing/2014/main" id="{6268DC33-1470-48E6-9B35-CC130D45E9BC}"/>
              </a:ext>
            </a:extLst>
          </p:cNvPr>
          <p:cNvSpPr>
            <a:spLocks noGrp="1"/>
          </p:cNvSpPr>
          <p:nvPr/>
        </p:nvSpPr>
        <p:spPr>
          <a:xfrm>
            <a:off x="666750" y="3143250"/>
            <a:ext cx="33337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CDD8E7"/>
            </a:solidFill>
            <a:prstDash val="solid"/>
          </a:ln>
        </p:spPr>
      </p:sp>
      <p:sp>
        <p:nvSpPr>
          <p:cNvPr id="946" name="矩形 945">
            <a:extLst>
              <a:ext uri="{FF2B5EF4-FFF2-40B4-BE49-F238E27FC236}">
                <a16:creationId xmlns:a16="http://schemas.microsoft.com/office/drawing/2014/main" id="{6ED8323D-2DA1-40E5-BBC5-852967AC88EB}"/>
              </a:ext>
            </a:extLst>
          </p:cNvPr>
          <p:cNvSpPr>
            <a:spLocks noGrp="1"/>
          </p:cNvSpPr>
          <p:nvPr/>
        </p:nvSpPr>
        <p:spPr>
          <a:xfrm>
            <a:off x="666750" y="3143250"/>
            <a:ext cx="66675" cy="2000250"/>
          </a:xfrm>
          <a:prstGeom prst="rect">
            <a:avLst/>
          </a:prstGeom>
          <a:solidFill>
            <a:srgbClr val="29559A"/>
          </a:solidFill>
          <a:ln w="0">
            <a:solidFill>
              <a:srgbClr val="29559A"/>
            </a:solidFill>
            <a:prstDash val="solid"/>
          </a:ln>
        </p:spPr>
      </p:sp>
      <p:sp>
        <p:nvSpPr>
          <p:cNvPr id="947" name="矩形 946">
            <a:extLst>
              <a:ext uri="{FF2B5EF4-FFF2-40B4-BE49-F238E27FC236}">
                <a16:creationId xmlns:a16="http://schemas.microsoft.com/office/drawing/2014/main" id="{B3FE1CC9-D717-4175-B801-97CA4B478D1E}"/>
              </a:ext>
            </a:extLst>
          </p:cNvPr>
          <p:cNvSpPr>
            <a:spLocks noGrp="1"/>
          </p:cNvSpPr>
          <p:nvPr/>
        </p:nvSpPr>
        <p:spPr>
          <a:xfrm>
            <a:off x="895350" y="3305175"/>
            <a:ext cx="2933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233C"/>
                </a:solidFill>
              </a:defRPr>
            </a:pPr>
            <a:r>
              <a:rPr sz="2000" dirty="0" err="1">
                <a:solidFill>
                  <a:srgbClr val="17233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机密性</a:t>
            </a:r>
            <a:endParaRPr sz="2000" dirty="0">
              <a:solidFill>
                <a:srgbClr val="17233C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48" name="矩形 947">
            <a:extLst>
              <a:ext uri="{FF2B5EF4-FFF2-40B4-BE49-F238E27FC236}">
                <a16:creationId xmlns:a16="http://schemas.microsoft.com/office/drawing/2014/main" id="{D859B0AC-AEB1-49D7-8AF2-EFC269EC360F}"/>
              </a:ext>
            </a:extLst>
          </p:cNvPr>
          <p:cNvSpPr>
            <a:spLocks noGrp="1"/>
          </p:cNvSpPr>
          <p:nvPr/>
        </p:nvSpPr>
        <p:spPr>
          <a:xfrm>
            <a:off x="895350" y="3686175"/>
            <a:ext cx="293370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B6575"/>
                </a:solidFill>
              </a:defRPr>
            </a:pPr>
            <a:r>
              <a:rPr sz="1600" dirty="0">
                <a:solidFill>
                  <a:srgbClr val="17233C"/>
                </a:solidFill>
                <a:latin typeface="Times New Roman" panose="02020603050405020304" pitchFamily="18" charset="0"/>
                <a:ea typeface="楷体"/>
                <a:cs typeface="Times New Roman" panose="02020603050405020304" pitchFamily="18" charset="0"/>
              </a:rPr>
              <a:t>AES-</a:t>
            </a:r>
            <a:r>
              <a:rPr sz="1600" dirty="0" err="1">
                <a:solidFill>
                  <a:srgbClr val="17233C"/>
                </a:solidFill>
                <a:latin typeface="Times New Roman" panose="02020603050405020304" pitchFamily="18" charset="0"/>
                <a:ea typeface="楷体"/>
                <a:cs typeface="Times New Roman" panose="02020603050405020304" pitchFamily="18" charset="0"/>
              </a:rPr>
              <a:t>CBC</a:t>
            </a:r>
            <a:r>
              <a:rPr sz="1600" b="0" dirty="0" err="1">
                <a:solidFill>
                  <a:srgbClr val="5B657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保护业务载荷</a:t>
            </a:r>
            <a:endParaRPr sz="1600" b="0" dirty="0">
              <a:solidFill>
                <a:srgbClr val="5B657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>
              <a:defRPr sz="1200" b="0">
                <a:solidFill>
                  <a:srgbClr val="5B6575"/>
                </a:solidFill>
              </a:defRPr>
            </a:pPr>
            <a:r>
              <a:rPr sz="1600" b="0" dirty="0" err="1">
                <a:solidFill>
                  <a:srgbClr val="5B657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密钥由会话协商动态产生</a:t>
            </a:r>
            <a:endParaRPr sz="1600" b="0" dirty="0">
              <a:solidFill>
                <a:srgbClr val="5B657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>
              <a:defRPr sz="1200" b="0">
                <a:solidFill>
                  <a:srgbClr val="5B6575"/>
                </a:solidFill>
              </a:defRPr>
            </a:pPr>
            <a:r>
              <a:rPr sz="1600" b="0" dirty="0" err="1">
                <a:solidFill>
                  <a:srgbClr val="5B657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避免明文传输敏感指令</a:t>
            </a:r>
            <a:endParaRPr sz="1600" b="0" dirty="0">
              <a:solidFill>
                <a:srgbClr val="5B657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49" name="矩形: 圆角 948">
            <a:extLst>
              <a:ext uri="{FF2B5EF4-FFF2-40B4-BE49-F238E27FC236}">
                <a16:creationId xmlns:a16="http://schemas.microsoft.com/office/drawing/2014/main" id="{D0F9951F-A18A-474C-B6AF-648A2868B75A}"/>
              </a:ext>
            </a:extLst>
          </p:cNvPr>
          <p:cNvSpPr>
            <a:spLocks noGrp="1"/>
          </p:cNvSpPr>
          <p:nvPr/>
        </p:nvSpPr>
        <p:spPr>
          <a:xfrm>
            <a:off x="4429125" y="3143250"/>
            <a:ext cx="33337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CDD8E7"/>
            </a:solidFill>
            <a:prstDash val="solid"/>
          </a:ln>
        </p:spPr>
      </p:sp>
      <p:sp>
        <p:nvSpPr>
          <p:cNvPr id="950" name="矩形 949">
            <a:extLst>
              <a:ext uri="{FF2B5EF4-FFF2-40B4-BE49-F238E27FC236}">
                <a16:creationId xmlns:a16="http://schemas.microsoft.com/office/drawing/2014/main" id="{73DD2457-DC38-4902-A94E-D8FADDA7B039}"/>
              </a:ext>
            </a:extLst>
          </p:cNvPr>
          <p:cNvSpPr>
            <a:spLocks noGrp="1"/>
          </p:cNvSpPr>
          <p:nvPr/>
        </p:nvSpPr>
        <p:spPr>
          <a:xfrm>
            <a:off x="4429125" y="3143250"/>
            <a:ext cx="66675" cy="2000250"/>
          </a:xfrm>
          <a:prstGeom prst="rect">
            <a:avLst/>
          </a:prstGeom>
          <a:solidFill>
            <a:srgbClr val="ED7D31"/>
          </a:solidFill>
          <a:ln w="0">
            <a:solidFill>
              <a:srgbClr val="ED7D31"/>
            </a:solidFill>
            <a:prstDash val="solid"/>
          </a:ln>
        </p:spPr>
      </p:sp>
      <p:sp>
        <p:nvSpPr>
          <p:cNvPr id="951" name="矩形 950">
            <a:extLst>
              <a:ext uri="{FF2B5EF4-FFF2-40B4-BE49-F238E27FC236}">
                <a16:creationId xmlns:a16="http://schemas.microsoft.com/office/drawing/2014/main" id="{E8EECCDC-D20A-46B7-BC5E-2BB211C65F0F}"/>
              </a:ext>
            </a:extLst>
          </p:cNvPr>
          <p:cNvSpPr>
            <a:spLocks noGrp="1"/>
          </p:cNvSpPr>
          <p:nvPr/>
        </p:nvSpPr>
        <p:spPr>
          <a:xfrm>
            <a:off x="4657725" y="3305175"/>
            <a:ext cx="2933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233C"/>
                </a:solidFill>
              </a:defRPr>
            </a:pPr>
            <a:r>
              <a:rPr sz="2000">
                <a:solidFill>
                  <a:srgbClr val="17233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完整性</a:t>
            </a:r>
          </a:p>
        </p:txBody>
      </p:sp>
      <p:sp>
        <p:nvSpPr>
          <p:cNvPr id="952" name="矩形 951">
            <a:extLst>
              <a:ext uri="{FF2B5EF4-FFF2-40B4-BE49-F238E27FC236}">
                <a16:creationId xmlns:a16="http://schemas.microsoft.com/office/drawing/2014/main" id="{F56BC100-154D-4CF9-8215-ABA3F7D81508}"/>
              </a:ext>
            </a:extLst>
          </p:cNvPr>
          <p:cNvSpPr>
            <a:spLocks noGrp="1"/>
          </p:cNvSpPr>
          <p:nvPr/>
        </p:nvSpPr>
        <p:spPr>
          <a:xfrm>
            <a:off x="4657725" y="3686175"/>
            <a:ext cx="293370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B6575"/>
                </a:solidFill>
              </a:defRPr>
            </a:pPr>
            <a:r>
              <a:rPr sz="1600" dirty="0">
                <a:solidFill>
                  <a:srgbClr val="17233C"/>
                </a:solidFill>
                <a:latin typeface="Times New Roman" panose="02020603050405020304" pitchFamily="18" charset="0"/>
                <a:ea typeface="楷体"/>
                <a:cs typeface="Times New Roman" panose="02020603050405020304" pitchFamily="18" charset="0"/>
              </a:rPr>
              <a:t>HMAC-SHA256</a:t>
            </a:r>
            <a:r>
              <a:rPr sz="1600" b="0" dirty="0">
                <a:solidFill>
                  <a:srgbClr val="5B657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检测篡改</a:t>
            </a:r>
          </a:p>
          <a:p>
            <a:pPr algn="l">
              <a:defRPr sz="1200" b="0">
                <a:solidFill>
                  <a:srgbClr val="5B6575"/>
                </a:solidFill>
              </a:defRPr>
            </a:pPr>
            <a:r>
              <a:rPr sz="1600" b="0" dirty="0" err="1">
                <a:solidFill>
                  <a:srgbClr val="5B657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加密密钥与</a:t>
            </a:r>
            <a:r>
              <a:rPr sz="1600" dirty="0" err="1">
                <a:solidFill>
                  <a:srgbClr val="17233C"/>
                </a:solidFill>
                <a:latin typeface="Times New Roman" panose="02020603050405020304" pitchFamily="18" charset="0"/>
                <a:ea typeface="楷体"/>
                <a:cs typeface="Times New Roman" panose="02020603050405020304" pitchFamily="18" charset="0"/>
              </a:rPr>
              <a:t>MAC</a:t>
            </a:r>
            <a:r>
              <a:rPr sz="1600" b="0" dirty="0" err="1">
                <a:solidFill>
                  <a:srgbClr val="5B657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密钥分离</a:t>
            </a:r>
            <a:endParaRPr sz="1600" b="0" dirty="0">
              <a:solidFill>
                <a:srgbClr val="5B657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>
              <a:defRPr sz="1200" b="0">
                <a:solidFill>
                  <a:srgbClr val="5B6575"/>
                </a:solidFill>
              </a:defRPr>
            </a:pPr>
            <a:r>
              <a:rPr sz="1600" b="0" dirty="0" err="1">
                <a:solidFill>
                  <a:srgbClr val="5B657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校验失败时拒绝业务处理</a:t>
            </a:r>
            <a:endParaRPr sz="1600" b="0" dirty="0">
              <a:solidFill>
                <a:srgbClr val="5B657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53" name="矩形: 圆角 952">
            <a:extLst>
              <a:ext uri="{FF2B5EF4-FFF2-40B4-BE49-F238E27FC236}">
                <a16:creationId xmlns:a16="http://schemas.microsoft.com/office/drawing/2014/main" id="{1DC0FF94-FC81-418C-882F-CB2D33FC3142}"/>
              </a:ext>
            </a:extLst>
          </p:cNvPr>
          <p:cNvSpPr>
            <a:spLocks noGrp="1"/>
          </p:cNvSpPr>
          <p:nvPr/>
        </p:nvSpPr>
        <p:spPr>
          <a:xfrm>
            <a:off x="8191500" y="3143250"/>
            <a:ext cx="33337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CDD8E7"/>
            </a:solidFill>
            <a:prstDash val="solid"/>
          </a:ln>
        </p:spPr>
      </p:sp>
      <p:sp>
        <p:nvSpPr>
          <p:cNvPr id="954" name="矩形 953">
            <a:extLst>
              <a:ext uri="{FF2B5EF4-FFF2-40B4-BE49-F238E27FC236}">
                <a16:creationId xmlns:a16="http://schemas.microsoft.com/office/drawing/2014/main" id="{DCB1A7ED-3E82-4651-859A-E94E8A94A619}"/>
              </a:ext>
            </a:extLst>
          </p:cNvPr>
          <p:cNvSpPr>
            <a:spLocks noGrp="1"/>
          </p:cNvSpPr>
          <p:nvPr/>
        </p:nvSpPr>
        <p:spPr>
          <a:xfrm>
            <a:off x="8191500" y="3143250"/>
            <a:ext cx="66675" cy="2000250"/>
          </a:xfrm>
          <a:prstGeom prst="rect">
            <a:avLst/>
          </a:prstGeom>
          <a:solidFill>
            <a:srgbClr val="70AD47"/>
          </a:solidFill>
          <a:ln w="0">
            <a:solidFill>
              <a:srgbClr val="70AD47"/>
            </a:solidFill>
            <a:prstDash val="solid"/>
          </a:ln>
        </p:spPr>
      </p:sp>
      <p:sp>
        <p:nvSpPr>
          <p:cNvPr id="955" name="矩形 954">
            <a:extLst>
              <a:ext uri="{FF2B5EF4-FFF2-40B4-BE49-F238E27FC236}">
                <a16:creationId xmlns:a16="http://schemas.microsoft.com/office/drawing/2014/main" id="{15DF2E02-4D8E-4536-B62A-E98BD787FFAE}"/>
              </a:ext>
            </a:extLst>
          </p:cNvPr>
          <p:cNvSpPr>
            <a:spLocks noGrp="1"/>
          </p:cNvSpPr>
          <p:nvPr/>
        </p:nvSpPr>
        <p:spPr>
          <a:xfrm>
            <a:off x="8420100" y="3305175"/>
            <a:ext cx="2933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233C"/>
                </a:solidFill>
              </a:defRPr>
            </a:pPr>
            <a:r>
              <a:rPr sz="2000">
                <a:solidFill>
                  <a:srgbClr val="17233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防重放</a:t>
            </a:r>
          </a:p>
        </p:txBody>
      </p:sp>
      <p:sp>
        <p:nvSpPr>
          <p:cNvPr id="956" name="矩形 955">
            <a:extLst>
              <a:ext uri="{FF2B5EF4-FFF2-40B4-BE49-F238E27FC236}">
                <a16:creationId xmlns:a16="http://schemas.microsoft.com/office/drawing/2014/main" id="{AEE2C2DE-FCD6-4C5C-8705-2E154952AA47}"/>
              </a:ext>
            </a:extLst>
          </p:cNvPr>
          <p:cNvSpPr>
            <a:spLocks noGrp="1"/>
          </p:cNvSpPr>
          <p:nvPr/>
        </p:nvSpPr>
        <p:spPr>
          <a:xfrm>
            <a:off x="8420100" y="3686175"/>
            <a:ext cx="293370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B6575"/>
                </a:solidFill>
              </a:defRPr>
            </a:pPr>
            <a:r>
              <a:rPr sz="1600" dirty="0" err="1">
                <a:solidFill>
                  <a:srgbClr val="17233C"/>
                </a:solidFill>
                <a:latin typeface="Times New Roman" panose="02020603050405020304" pitchFamily="18" charset="0"/>
                <a:ea typeface="楷体"/>
                <a:cs typeface="Times New Roman" panose="02020603050405020304" pitchFamily="18" charset="0"/>
              </a:rPr>
              <a:t>timestamp</a:t>
            </a:r>
            <a:r>
              <a:rPr sz="1600" b="0" dirty="0" err="1">
                <a:solidFill>
                  <a:srgbClr val="5B657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限制有效期</a:t>
            </a:r>
            <a:endParaRPr sz="1600" b="0" dirty="0">
              <a:solidFill>
                <a:srgbClr val="5B657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>
              <a:defRPr sz="1200" b="0">
                <a:solidFill>
                  <a:srgbClr val="5B6575"/>
                </a:solidFill>
              </a:defRPr>
            </a:pPr>
            <a:r>
              <a:rPr sz="1600" dirty="0" err="1">
                <a:solidFill>
                  <a:srgbClr val="17233C"/>
                </a:solidFill>
                <a:latin typeface="Times New Roman" panose="02020603050405020304" pitchFamily="18" charset="0"/>
                <a:ea typeface="楷体"/>
                <a:cs typeface="Times New Roman" panose="02020603050405020304" pitchFamily="18" charset="0"/>
              </a:rPr>
              <a:t>request_id</a:t>
            </a:r>
            <a:r>
              <a:rPr sz="1600" b="0" dirty="0" err="1">
                <a:solidFill>
                  <a:srgbClr val="5B657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标识唯一请求</a:t>
            </a:r>
            <a:endParaRPr sz="1600" b="0" dirty="0">
              <a:solidFill>
                <a:srgbClr val="5B657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>
              <a:defRPr sz="1200" b="0">
                <a:solidFill>
                  <a:srgbClr val="5B6575"/>
                </a:solidFill>
              </a:defRPr>
            </a:pPr>
            <a:r>
              <a:rPr sz="1600" dirty="0" err="1">
                <a:solidFill>
                  <a:srgbClr val="17233C"/>
                </a:solidFill>
                <a:latin typeface="Times New Roman" panose="02020603050405020304" pitchFamily="18" charset="0"/>
                <a:ea typeface="楷体"/>
                <a:cs typeface="Times New Roman" panose="02020603050405020304" pitchFamily="18" charset="0"/>
              </a:rPr>
              <a:t>nonce</a:t>
            </a:r>
            <a:r>
              <a:rPr sz="1600" b="0" dirty="0" err="1">
                <a:solidFill>
                  <a:srgbClr val="5B657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缓存阻止重复使用</a:t>
            </a:r>
            <a:endParaRPr sz="1600" b="0" dirty="0">
              <a:solidFill>
                <a:srgbClr val="5B657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57" name="矩形 956">
            <a:extLst>
              <a:ext uri="{FF2B5EF4-FFF2-40B4-BE49-F238E27FC236}">
                <a16:creationId xmlns:a16="http://schemas.microsoft.com/office/drawing/2014/main" id="{1F6D9A2A-4A02-4AD8-9489-6A29150FB3E4}"/>
              </a:ext>
            </a:extLst>
          </p:cNvPr>
          <p:cNvSpPr>
            <a:spLocks noGrp="1"/>
          </p:cNvSpPr>
          <p:nvPr/>
        </p:nvSpPr>
        <p:spPr>
          <a:xfrm>
            <a:off x="1619250" y="5619750"/>
            <a:ext cx="895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29559A"/>
                </a:solidFill>
              </a:defRPr>
            </a:pPr>
            <a:r>
              <a:rPr sz="2000" b="1" dirty="0" err="1">
                <a:solidFill>
                  <a:srgbClr val="29559A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接收端先校验</a:t>
            </a:r>
            <a:r>
              <a:rPr sz="2000" b="1" dirty="0" err="1">
                <a:solidFill>
                  <a:srgbClr val="29559A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HMAC</a:t>
            </a:r>
            <a:r>
              <a:rPr sz="2000" b="1" dirty="0" err="1">
                <a:solidFill>
                  <a:srgbClr val="29559A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、时间与</a:t>
            </a:r>
            <a:r>
              <a:rPr sz="2000" b="1" dirty="0" err="1">
                <a:solidFill>
                  <a:srgbClr val="29559A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nonce</a:t>
            </a:r>
            <a:r>
              <a:rPr sz="2000" b="1" dirty="0" err="1">
                <a:solidFill>
                  <a:srgbClr val="29559A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，再解密并处理业务</a:t>
            </a:r>
            <a:r>
              <a:rPr sz="2000" b="1" dirty="0">
                <a:solidFill>
                  <a:srgbClr val="29559A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sp>
        <p:nvSpPr>
          <p:cNvPr id="2" name="Google Shape;532;p36">
            <a:extLst>
              <a:ext uri="{FF2B5EF4-FFF2-40B4-BE49-F238E27FC236}">
                <a16:creationId xmlns:a16="http://schemas.microsoft.com/office/drawing/2014/main" id="{0B7A295E-DF7D-6134-2CF5-16C19BE788B0}"/>
              </a:ext>
            </a:extLst>
          </p:cNvPr>
          <p:cNvSpPr>
            <a:spLocks noGrp="1"/>
          </p:cNvSpPr>
          <p:nvPr/>
        </p:nvSpPr>
        <p:spPr>
          <a:xfrm>
            <a:off x="542925" y="1571625"/>
            <a:ext cx="27051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9pPr>
          </a:lstStyle>
          <a:p>
            <a:pPr algn="ctr">
              <a:defRPr sz="2025" b="1">
                <a:solidFill>
                  <a:srgbClr val="17233C"/>
                </a:solidFill>
              </a:defRPr>
            </a:pPr>
            <a:r>
              <a:rPr sz="2000" b="0" dirty="0">
                <a:solidFill>
                  <a:srgbClr val="17233C"/>
                </a:solidFill>
                <a:latin typeface="Times New Roman" panose="02020603050405020304" pitchFamily="18" charset="0"/>
                <a:ea typeface="楷体"/>
                <a:cs typeface="Times New Roman" panose="02020603050405020304" pitchFamily="18" charset="0"/>
              </a:rPr>
              <a:t>SPAKE2</a:t>
            </a:r>
            <a:endParaRPr lang="en-US" sz="2000" b="0" dirty="0">
              <a:solidFill>
                <a:srgbClr val="17233C"/>
              </a:solidFill>
              <a:latin typeface="Times New Roman" panose="02020603050405020304" pitchFamily="18" charset="0"/>
              <a:ea typeface="楷体"/>
              <a:cs typeface="Times New Roman" panose="02020603050405020304" pitchFamily="18" charset="0"/>
            </a:endParaRPr>
          </a:p>
          <a:p>
            <a:pPr algn="ctr">
              <a:defRPr sz="2025" b="1">
                <a:solidFill>
                  <a:srgbClr val="17233C"/>
                </a:solidFill>
              </a:defRPr>
            </a:pPr>
            <a:r>
              <a:rPr lang="zh-CN" altLang="en-US" sz="2000" b="0" dirty="0">
                <a:solidFill>
                  <a:srgbClr val="17233C"/>
                </a:solidFill>
                <a:latin typeface="楷体"/>
                <a:ea typeface="楷体"/>
                <a:cs typeface="楷体"/>
              </a:rPr>
              <a:t>协商密钥共享</a:t>
            </a:r>
            <a:endParaRPr sz="2000" b="0" dirty="0">
              <a:solidFill>
                <a:srgbClr val="17233C"/>
              </a:solidFill>
              <a:latin typeface="楷体"/>
              <a:ea typeface="楷体"/>
              <a:cs typeface="楷体"/>
            </a:endParaRPr>
          </a:p>
        </p:txBody>
      </p:sp>
      <p:sp>
        <p:nvSpPr>
          <p:cNvPr id="3" name="Google Shape;532;p36">
            <a:extLst>
              <a:ext uri="{FF2B5EF4-FFF2-40B4-BE49-F238E27FC236}">
                <a16:creationId xmlns:a16="http://schemas.microsoft.com/office/drawing/2014/main" id="{C89104B9-C8A6-BD06-1292-3EB7DF0F0976}"/>
              </a:ext>
            </a:extLst>
          </p:cNvPr>
          <p:cNvSpPr>
            <a:spLocks noGrp="1"/>
          </p:cNvSpPr>
          <p:nvPr/>
        </p:nvSpPr>
        <p:spPr>
          <a:xfrm>
            <a:off x="3316703" y="1600786"/>
            <a:ext cx="27051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9pPr>
          </a:lstStyle>
          <a:p>
            <a:pPr algn="ctr">
              <a:defRPr sz="2025" b="1">
                <a:solidFill>
                  <a:srgbClr val="17233C"/>
                </a:solidFill>
              </a:defRPr>
            </a:pPr>
            <a:r>
              <a:rPr lang="en-US" sz="2000" b="0" dirty="0">
                <a:solidFill>
                  <a:srgbClr val="17233C"/>
                </a:solidFill>
                <a:latin typeface="Times New Roman" panose="02020603050405020304" pitchFamily="18" charset="0"/>
                <a:ea typeface="楷体"/>
                <a:cs typeface="Times New Roman" panose="02020603050405020304" pitchFamily="18" charset="0"/>
              </a:rPr>
              <a:t>HKDF</a:t>
            </a:r>
          </a:p>
          <a:p>
            <a:pPr algn="ctr">
              <a:defRPr sz="2025" b="1">
                <a:solidFill>
                  <a:srgbClr val="17233C"/>
                </a:solidFill>
              </a:defRPr>
            </a:pPr>
            <a:r>
              <a:rPr lang="zh-CN" altLang="en-US" sz="2000" b="0" dirty="0">
                <a:solidFill>
                  <a:srgbClr val="17233C"/>
                </a:solidFill>
                <a:latin typeface="楷体"/>
                <a:ea typeface="楷体"/>
                <a:cs typeface="楷体"/>
              </a:rPr>
              <a:t>分离</a:t>
            </a:r>
            <a:r>
              <a:rPr lang="en-US" altLang="zh-CN" sz="2000" b="0" dirty="0">
                <a:solidFill>
                  <a:srgbClr val="17233C"/>
                </a:solidFill>
                <a:latin typeface="Times New Roman" panose="02020603050405020304" pitchFamily="18" charset="0"/>
                <a:ea typeface="楷体"/>
                <a:cs typeface="Times New Roman" panose="02020603050405020304" pitchFamily="18" charset="0"/>
              </a:rPr>
              <a:t>enc/mac key</a:t>
            </a:r>
            <a:endParaRPr sz="2000" b="0" dirty="0">
              <a:solidFill>
                <a:srgbClr val="17233C"/>
              </a:solidFill>
              <a:latin typeface="Times New Roman" panose="02020603050405020304" pitchFamily="18" charset="0"/>
              <a:ea typeface="楷体"/>
              <a:cs typeface="Times New Roman" panose="02020603050405020304" pitchFamily="18" charset="0"/>
            </a:endParaRPr>
          </a:p>
        </p:txBody>
      </p:sp>
      <p:sp>
        <p:nvSpPr>
          <p:cNvPr id="4" name="Google Shape;532;p36">
            <a:extLst>
              <a:ext uri="{FF2B5EF4-FFF2-40B4-BE49-F238E27FC236}">
                <a16:creationId xmlns:a16="http://schemas.microsoft.com/office/drawing/2014/main" id="{818935FA-BEA0-93AB-958C-0AE155A8C857}"/>
              </a:ext>
            </a:extLst>
          </p:cNvPr>
          <p:cNvSpPr>
            <a:spLocks noGrp="1"/>
          </p:cNvSpPr>
          <p:nvPr/>
        </p:nvSpPr>
        <p:spPr>
          <a:xfrm>
            <a:off x="6116814" y="1600786"/>
            <a:ext cx="27051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9pPr>
          </a:lstStyle>
          <a:p>
            <a:pPr algn="ctr">
              <a:defRPr sz="2025" b="1">
                <a:solidFill>
                  <a:srgbClr val="17233C"/>
                </a:solidFill>
              </a:defRPr>
            </a:pPr>
            <a:r>
              <a:rPr lang="en-US" sz="2000" b="0" dirty="0">
                <a:solidFill>
                  <a:srgbClr val="17233C"/>
                </a:solidFill>
                <a:latin typeface="Times New Roman" panose="02020603050405020304" pitchFamily="18" charset="0"/>
                <a:ea typeface="楷体"/>
                <a:cs typeface="Times New Roman" panose="02020603050405020304" pitchFamily="18" charset="0"/>
              </a:rPr>
              <a:t>AES-CBC</a:t>
            </a:r>
          </a:p>
          <a:p>
            <a:pPr algn="ctr">
              <a:defRPr sz="2025" b="1">
                <a:solidFill>
                  <a:srgbClr val="17233C"/>
                </a:solidFill>
              </a:defRPr>
            </a:pPr>
            <a:r>
              <a:rPr lang="zh-CN" altLang="en-US" sz="2000" b="0" dirty="0">
                <a:solidFill>
                  <a:srgbClr val="17233C"/>
                </a:solidFill>
                <a:latin typeface="Times New Roman" panose="02020603050405020304" pitchFamily="18" charset="0"/>
                <a:ea typeface="楷体"/>
                <a:cs typeface="Times New Roman" panose="02020603050405020304" pitchFamily="18" charset="0"/>
              </a:rPr>
              <a:t>加密业务载荷</a:t>
            </a:r>
            <a:endParaRPr lang="en-US" sz="2000" b="0" dirty="0">
              <a:solidFill>
                <a:srgbClr val="17233C"/>
              </a:solidFill>
              <a:latin typeface="Times New Roman" panose="02020603050405020304" pitchFamily="18" charset="0"/>
              <a:ea typeface="楷体"/>
              <a:cs typeface="Times New Roman" panose="02020603050405020304" pitchFamily="18" charset="0"/>
            </a:endParaRPr>
          </a:p>
        </p:txBody>
      </p:sp>
      <p:sp>
        <p:nvSpPr>
          <p:cNvPr id="5" name="Google Shape;532;p36">
            <a:extLst>
              <a:ext uri="{FF2B5EF4-FFF2-40B4-BE49-F238E27FC236}">
                <a16:creationId xmlns:a16="http://schemas.microsoft.com/office/drawing/2014/main" id="{970D1B37-5D05-66C5-CC8F-3FB6B26EB73B}"/>
              </a:ext>
            </a:extLst>
          </p:cNvPr>
          <p:cNvSpPr>
            <a:spLocks noGrp="1"/>
          </p:cNvSpPr>
          <p:nvPr/>
        </p:nvSpPr>
        <p:spPr>
          <a:xfrm>
            <a:off x="8915400" y="1609725"/>
            <a:ext cx="27051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9pPr>
          </a:lstStyle>
          <a:p>
            <a:pPr algn="ctr">
              <a:defRPr sz="2025" b="1">
                <a:solidFill>
                  <a:srgbClr val="17233C"/>
                </a:solidFill>
              </a:defRPr>
            </a:pPr>
            <a:r>
              <a:rPr lang="en-US" altLang="zh-CN" sz="2000" b="0" dirty="0">
                <a:solidFill>
                  <a:srgbClr val="17233C"/>
                </a:solidFill>
                <a:latin typeface="Times New Roman" panose="02020603050405020304" pitchFamily="18" charset="0"/>
                <a:ea typeface="楷体"/>
                <a:cs typeface="Times New Roman" panose="02020603050405020304" pitchFamily="18" charset="0"/>
              </a:rPr>
              <a:t>HMAC-SHA256</a:t>
            </a:r>
            <a:endParaRPr lang="en-US" sz="2000" b="0" dirty="0">
              <a:solidFill>
                <a:srgbClr val="17233C"/>
              </a:solidFill>
              <a:latin typeface="Times New Roman" panose="02020603050405020304" pitchFamily="18" charset="0"/>
              <a:ea typeface="楷体"/>
              <a:cs typeface="Times New Roman" panose="02020603050405020304" pitchFamily="18" charset="0"/>
            </a:endParaRPr>
          </a:p>
          <a:p>
            <a:pPr algn="ctr">
              <a:defRPr sz="2025" b="1">
                <a:solidFill>
                  <a:srgbClr val="17233C"/>
                </a:solidFill>
              </a:defRPr>
            </a:pPr>
            <a:r>
              <a:rPr lang="zh-CN" altLang="en-US" sz="2000" b="0" dirty="0">
                <a:solidFill>
                  <a:srgbClr val="17233C"/>
                </a:solidFill>
                <a:latin typeface="Times New Roman" panose="02020603050405020304" pitchFamily="18" charset="0"/>
                <a:ea typeface="楷体"/>
                <a:cs typeface="Times New Roman" panose="02020603050405020304" pitchFamily="18" charset="0"/>
              </a:rPr>
              <a:t>校验完整性</a:t>
            </a:r>
            <a:endParaRPr lang="en-US" sz="2000" b="0" dirty="0">
              <a:solidFill>
                <a:srgbClr val="17233C"/>
              </a:solidFill>
              <a:latin typeface="Times New Roman" panose="02020603050405020304" pitchFamily="18" charset="0"/>
              <a:ea typeface="楷体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66D2644-BBD8-3F1A-C561-5C351DA5FA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3178" cy="510540"/>
          </a:xfrm>
          <a:prstGeom prst="rect">
            <a:avLst/>
          </a:prstGeom>
          <a:solidFill>
            <a:srgbClr val="2955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Google Shape;1606;p77">
            <a:extLst>
              <a:ext uri="{FF2B5EF4-FFF2-40B4-BE49-F238E27FC236}">
                <a16:creationId xmlns:a16="http://schemas.microsoft.com/office/drawing/2014/main" id="{9D7D8867-53F8-1AE2-9B63-2BA41A5745FF}"/>
              </a:ext>
            </a:extLst>
          </p:cNvPr>
          <p:cNvSpPr>
            <a:spLocks noGrp="1"/>
          </p:cNvSpPr>
          <p:nvPr/>
        </p:nvSpPr>
        <p:spPr>
          <a:xfrm>
            <a:off x="7781403" y="0"/>
            <a:ext cx="1439124" cy="510540"/>
          </a:xfrm>
          <a:custGeom>
            <a:avLst/>
            <a:gdLst/>
            <a:ahLst/>
            <a:cxnLst/>
            <a:rect l="l" t="t" r="r" b="b"/>
            <a:pathLst>
              <a:path w="9235" h="10000">
                <a:moveTo>
                  <a:pt x="0" y="0"/>
                </a:moveTo>
                <a:lnTo>
                  <a:pt x="0" y="10000"/>
                </a:lnTo>
                <a:lnTo>
                  <a:pt x="6992" y="10000"/>
                </a:lnTo>
                <a:lnTo>
                  <a:pt x="9235" y="4853"/>
                </a:lnTo>
                <a:lnTo>
                  <a:pt x="699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文本框 927">
            <a:extLst>
              <a:ext uri="{FF2B5EF4-FFF2-40B4-BE49-F238E27FC236}">
                <a16:creationId xmlns:a16="http://schemas.microsoft.com/office/drawing/2014/main" id="{840C3886-7033-0A4D-C4FD-236ED282EDBF}"/>
              </a:ext>
            </a:extLst>
          </p:cNvPr>
          <p:cNvSpPr>
            <a:spLocks noGrp="1"/>
          </p:cNvSpPr>
          <p:nvPr/>
        </p:nvSpPr>
        <p:spPr>
          <a:xfrm>
            <a:off x="4749684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 err="1">
                <a:solidFill>
                  <a:schemeClr val="bg1"/>
                </a:solidFill>
                <a:latin typeface="黑体"/>
                <a:ea typeface="黑体"/>
                <a:cs typeface="黑体"/>
              </a:rPr>
              <a:t>系统架构</a:t>
            </a:r>
            <a:endParaRPr sz="2000" dirty="0">
              <a:solidFill>
                <a:schemeClr val="bg1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9" name="文本框 926">
            <a:extLst>
              <a:ext uri="{FF2B5EF4-FFF2-40B4-BE49-F238E27FC236}">
                <a16:creationId xmlns:a16="http://schemas.microsoft.com/office/drawing/2014/main" id="{F52649F2-414D-5A92-318A-65EA3462C8ED}"/>
              </a:ext>
            </a:extLst>
          </p:cNvPr>
          <p:cNvSpPr>
            <a:spLocks noGrp="1"/>
          </p:cNvSpPr>
          <p:nvPr/>
        </p:nvSpPr>
        <p:spPr>
          <a:xfrm>
            <a:off x="6298131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认证流程</a:t>
            </a:r>
          </a:p>
        </p:txBody>
      </p:sp>
      <p:sp>
        <p:nvSpPr>
          <p:cNvPr id="10" name="文本框 928">
            <a:extLst>
              <a:ext uri="{FF2B5EF4-FFF2-40B4-BE49-F238E27FC236}">
                <a16:creationId xmlns:a16="http://schemas.microsoft.com/office/drawing/2014/main" id="{6D40E8D1-B1F9-6AE4-DD8E-760A3786B98F}"/>
              </a:ext>
            </a:extLst>
          </p:cNvPr>
          <p:cNvSpPr>
            <a:spLocks noGrp="1"/>
          </p:cNvSpPr>
          <p:nvPr/>
        </p:nvSpPr>
        <p:spPr>
          <a:xfrm>
            <a:off x="7798009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 err="1">
                <a:solidFill>
                  <a:srgbClr val="001942"/>
                </a:solidFill>
                <a:latin typeface="黑体"/>
                <a:ea typeface="黑体"/>
                <a:cs typeface="黑体"/>
              </a:rPr>
              <a:t>核心技术</a:t>
            </a:r>
            <a:endParaRPr sz="2000" dirty="0">
              <a:solidFill>
                <a:srgbClr val="001942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1" name="文本框 929">
            <a:extLst>
              <a:ext uri="{FF2B5EF4-FFF2-40B4-BE49-F238E27FC236}">
                <a16:creationId xmlns:a16="http://schemas.microsoft.com/office/drawing/2014/main" id="{B535E3B2-249D-D099-5D2B-18240C4CEE36}"/>
              </a:ext>
            </a:extLst>
          </p:cNvPr>
          <p:cNvSpPr>
            <a:spLocks noGrp="1"/>
          </p:cNvSpPr>
          <p:nvPr/>
        </p:nvSpPr>
        <p:spPr>
          <a:xfrm>
            <a:off x="9297887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测试结果</a:t>
            </a:r>
          </a:p>
        </p:txBody>
      </p:sp>
      <p:sp>
        <p:nvSpPr>
          <p:cNvPr id="12" name="文本框 930">
            <a:extLst>
              <a:ext uri="{FF2B5EF4-FFF2-40B4-BE49-F238E27FC236}">
                <a16:creationId xmlns:a16="http://schemas.microsoft.com/office/drawing/2014/main" id="{CE13B0F2-4DA3-9512-6258-4B43981A1F02}"/>
              </a:ext>
            </a:extLst>
          </p:cNvPr>
          <p:cNvSpPr>
            <a:spLocks noGrp="1"/>
          </p:cNvSpPr>
          <p:nvPr/>
        </p:nvSpPr>
        <p:spPr>
          <a:xfrm>
            <a:off x="10797765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总结展望</a:t>
            </a:r>
          </a:p>
        </p:txBody>
      </p:sp>
      <p:sp>
        <p:nvSpPr>
          <p:cNvPr id="13" name="文本框 923">
            <a:extLst>
              <a:ext uri="{FF2B5EF4-FFF2-40B4-BE49-F238E27FC236}">
                <a16:creationId xmlns:a16="http://schemas.microsoft.com/office/drawing/2014/main" id="{913A63A8-A913-AD39-1FA5-7DE97F7D608F}"/>
              </a:ext>
            </a:extLst>
          </p:cNvPr>
          <p:cNvSpPr>
            <a:spLocks noGrp="1"/>
          </p:cNvSpPr>
          <p:nvPr/>
        </p:nvSpPr>
        <p:spPr>
          <a:xfrm>
            <a:off x="3285408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 err="1">
                <a:solidFill>
                  <a:schemeClr val="bg1"/>
                </a:solidFill>
                <a:latin typeface="黑体"/>
                <a:ea typeface="黑体"/>
                <a:cs typeface="黑体"/>
              </a:rPr>
              <a:t>项目背景</a:t>
            </a:r>
            <a:endParaRPr sz="2000" dirty="0">
              <a:solidFill>
                <a:schemeClr val="bg1"/>
              </a:solidFill>
              <a:latin typeface="黑体"/>
              <a:ea typeface="黑体"/>
              <a:cs typeface="黑体"/>
            </a:endParaRPr>
          </a:p>
        </p:txBody>
      </p:sp>
    </p:spTree>
    <p:extLst>
      <p:ext uri="{BB962C8B-B14F-4D97-AF65-F5344CB8AC3E}">
        <p14:creationId xmlns:p14="http://schemas.microsoft.com/office/powerpoint/2010/main" val="610279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文本框 926">
            <a:extLst>
              <a:ext uri="{FF2B5EF4-FFF2-40B4-BE49-F238E27FC236}">
                <a16:creationId xmlns:a16="http://schemas.microsoft.com/office/drawing/2014/main" id="{B4C12BDD-67D4-4B90-A2DF-3CBEF474A073}"/>
              </a:ext>
            </a:extLst>
          </p:cNvPr>
          <p:cNvSpPr>
            <a:spLocks noGrp="1"/>
          </p:cNvSpPr>
          <p:nvPr/>
        </p:nvSpPr>
        <p:spPr>
          <a:xfrm>
            <a:off x="6298131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认证流程</a:t>
            </a:r>
          </a:p>
        </p:txBody>
      </p:sp>
      <p:sp>
        <p:nvSpPr>
          <p:cNvPr id="928" name="文本框 927">
            <a:extLst>
              <a:ext uri="{FF2B5EF4-FFF2-40B4-BE49-F238E27FC236}">
                <a16:creationId xmlns:a16="http://schemas.microsoft.com/office/drawing/2014/main" id="{75DF5E1B-A3C5-3D2B-632E-E9FAD5E3E94B}"/>
              </a:ext>
            </a:extLst>
          </p:cNvPr>
          <p:cNvSpPr>
            <a:spLocks noGrp="1"/>
          </p:cNvSpPr>
          <p:nvPr/>
        </p:nvSpPr>
        <p:spPr>
          <a:xfrm>
            <a:off x="4811216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系统架构</a:t>
            </a:r>
          </a:p>
        </p:txBody>
      </p:sp>
      <p:sp>
        <p:nvSpPr>
          <p:cNvPr id="929" name="文本框 928">
            <a:extLst>
              <a:ext uri="{FF2B5EF4-FFF2-40B4-BE49-F238E27FC236}">
                <a16:creationId xmlns:a16="http://schemas.microsoft.com/office/drawing/2014/main" id="{CB2BCDAE-A9CF-8A5D-DD26-0302E177E248}"/>
              </a:ext>
            </a:extLst>
          </p:cNvPr>
          <p:cNvSpPr>
            <a:spLocks noGrp="1"/>
          </p:cNvSpPr>
          <p:nvPr/>
        </p:nvSpPr>
        <p:spPr>
          <a:xfrm>
            <a:off x="7798009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核心技术</a:t>
            </a:r>
          </a:p>
        </p:txBody>
      </p:sp>
      <p:sp>
        <p:nvSpPr>
          <p:cNvPr id="930" name="文本框 929">
            <a:extLst>
              <a:ext uri="{FF2B5EF4-FFF2-40B4-BE49-F238E27FC236}">
                <a16:creationId xmlns:a16="http://schemas.microsoft.com/office/drawing/2014/main" id="{3D13CED5-2D49-616D-4796-211D41A62A5B}"/>
              </a:ext>
            </a:extLst>
          </p:cNvPr>
          <p:cNvSpPr>
            <a:spLocks noGrp="1"/>
          </p:cNvSpPr>
          <p:nvPr/>
        </p:nvSpPr>
        <p:spPr>
          <a:xfrm>
            <a:off x="9297887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测试结果</a:t>
            </a:r>
          </a:p>
        </p:txBody>
      </p:sp>
      <p:sp>
        <p:nvSpPr>
          <p:cNvPr id="931" name="文本框 930">
            <a:extLst>
              <a:ext uri="{FF2B5EF4-FFF2-40B4-BE49-F238E27FC236}">
                <a16:creationId xmlns:a16="http://schemas.microsoft.com/office/drawing/2014/main" id="{2BC8ADA3-2E93-CE86-94FC-67DD6565085E}"/>
              </a:ext>
            </a:extLst>
          </p:cNvPr>
          <p:cNvSpPr>
            <a:spLocks noGrp="1"/>
          </p:cNvSpPr>
          <p:nvPr/>
        </p:nvSpPr>
        <p:spPr>
          <a:xfrm>
            <a:off x="10797765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总结展望</a:t>
            </a:r>
          </a:p>
        </p:txBody>
      </p:sp>
      <p:sp>
        <p:nvSpPr>
          <p:cNvPr id="923" name="Google Shape;1606;p77">
            <a:extLst>
              <a:ext uri="{FF2B5EF4-FFF2-40B4-BE49-F238E27FC236}">
                <a16:creationId xmlns:a16="http://schemas.microsoft.com/office/drawing/2014/main" id="{DAB435B3-4DA6-C35E-2BBB-8528D6A98D3C}"/>
              </a:ext>
            </a:extLst>
          </p:cNvPr>
          <p:cNvSpPr>
            <a:spLocks noGrp="1"/>
          </p:cNvSpPr>
          <p:nvPr/>
        </p:nvSpPr>
        <p:spPr>
          <a:xfrm>
            <a:off x="3199916" y="0"/>
            <a:ext cx="1439124" cy="510540"/>
          </a:xfrm>
          <a:custGeom>
            <a:avLst/>
            <a:gdLst/>
            <a:ahLst/>
            <a:cxnLst/>
            <a:rect l="l" t="t" r="r" b="b"/>
            <a:pathLst>
              <a:path w="9235" h="10000">
                <a:moveTo>
                  <a:pt x="0" y="0"/>
                </a:moveTo>
                <a:lnTo>
                  <a:pt x="0" y="10000"/>
                </a:lnTo>
                <a:lnTo>
                  <a:pt x="6992" y="10000"/>
                </a:lnTo>
                <a:lnTo>
                  <a:pt x="9235" y="4853"/>
                </a:lnTo>
                <a:lnTo>
                  <a:pt x="699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2" name="Google Shape;532;p36">
            <a:extLst>
              <a:ext uri="{FF2B5EF4-FFF2-40B4-BE49-F238E27FC236}">
                <a16:creationId xmlns:a16="http://schemas.microsoft.com/office/drawing/2014/main" id="{6F98E871-560E-357B-4395-0415C970FF3F}"/>
              </a:ext>
            </a:extLst>
          </p:cNvPr>
          <p:cNvSpPr>
            <a:spLocks noGrp="1"/>
          </p:cNvSpPr>
          <p:nvPr/>
        </p:nvSpPr>
        <p:spPr>
          <a:xfrm>
            <a:off x="545486" y="429112"/>
            <a:ext cx="87630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9pPr>
          </a:lstStyle>
          <a:p>
            <a:pPr>
              <a:defRPr sz="2025" b="1">
                <a:solidFill>
                  <a:srgbClr val="17233C"/>
                </a:solidFill>
              </a:defRPr>
            </a:pPr>
            <a:r>
              <a:rPr sz="2400" b="0" dirty="0" err="1">
                <a:solidFill>
                  <a:srgbClr val="17233C"/>
                </a:solidFill>
                <a:latin typeface="楷体"/>
                <a:ea typeface="楷体"/>
                <a:cs typeface="楷体"/>
              </a:rPr>
              <a:t>人脸识别与双阈值授权策略</a:t>
            </a:r>
            <a:endParaRPr sz="2400" b="0" dirty="0">
              <a:solidFill>
                <a:srgbClr val="17233C"/>
              </a:solidFill>
              <a:latin typeface="楷体"/>
              <a:ea typeface="楷体"/>
              <a:cs typeface="楷体"/>
            </a:endParaRPr>
          </a:p>
        </p:txBody>
      </p:sp>
      <p:sp>
        <p:nvSpPr>
          <p:cNvPr id="933" name="Google Shape;1593;p77">
            <a:extLst>
              <a:ext uri="{FF2B5EF4-FFF2-40B4-BE49-F238E27FC236}">
                <a16:creationId xmlns:a16="http://schemas.microsoft.com/office/drawing/2014/main" id="{45D427E6-2C03-8BC4-C3FE-7FA583FB8F8E}"/>
              </a:ext>
            </a:extLst>
          </p:cNvPr>
          <p:cNvSpPr>
            <a:spLocks noGrp="1"/>
          </p:cNvSpPr>
          <p:nvPr/>
        </p:nvSpPr>
        <p:spPr>
          <a:xfrm>
            <a:off x="83834" y="546442"/>
            <a:ext cx="424710" cy="355891"/>
          </a:xfrm>
          <a:custGeom>
            <a:avLst/>
            <a:gdLst/>
            <a:ahLst/>
            <a:cxnLst/>
            <a:rect l="l" t="t" r="r" b="b"/>
            <a:pathLst>
              <a:path w="1956" h="2684">
                <a:moveTo>
                  <a:pt x="1" y="0"/>
                </a:moveTo>
                <a:lnTo>
                  <a:pt x="787" y="1342"/>
                </a:lnTo>
                <a:lnTo>
                  <a:pt x="1" y="2683"/>
                </a:lnTo>
                <a:lnTo>
                  <a:pt x="1955" y="1342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1000">
                <a:srgbClr val="FFFFFF"/>
              </a:gs>
              <a:gs pos="46000">
                <a:srgbClr val="869FC6"/>
              </a:gs>
              <a:gs pos="62000">
                <a:srgbClr val="29559A"/>
              </a:gs>
            </a:gsLst>
            <a:lin ang="2400000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8C989CB-A74F-7862-401D-6FEFACD4A244}"/>
              </a:ext>
            </a:extLst>
          </p:cNvPr>
          <p:cNvPicPr>
            <a:picLocks/>
          </p:cNvPicPr>
          <p:nvPr/>
        </p:nvPicPr>
        <p:blipFill>
          <a:blip r:embed="rId3"/>
          <a:srcRect l="1552" t="9846" r="1782"/>
          <a:stretch>
            <a:fillRect/>
          </a:stretch>
        </p:blipFill>
        <p:spPr>
          <a:xfrm>
            <a:off x="398585" y="901591"/>
            <a:ext cx="11516750" cy="5862494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016F8F7B-D78F-F343-DD1B-99FF0A99AF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3178" cy="510540"/>
          </a:xfrm>
          <a:prstGeom prst="rect">
            <a:avLst/>
          </a:prstGeom>
          <a:solidFill>
            <a:srgbClr val="2955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Google Shape;1606;p77">
            <a:extLst>
              <a:ext uri="{FF2B5EF4-FFF2-40B4-BE49-F238E27FC236}">
                <a16:creationId xmlns:a16="http://schemas.microsoft.com/office/drawing/2014/main" id="{488BD2CB-B2DB-3634-AED9-F6190F45F583}"/>
              </a:ext>
            </a:extLst>
          </p:cNvPr>
          <p:cNvSpPr>
            <a:spLocks noGrp="1"/>
          </p:cNvSpPr>
          <p:nvPr/>
        </p:nvSpPr>
        <p:spPr>
          <a:xfrm>
            <a:off x="7781403" y="0"/>
            <a:ext cx="1439124" cy="510540"/>
          </a:xfrm>
          <a:custGeom>
            <a:avLst/>
            <a:gdLst/>
            <a:ahLst/>
            <a:cxnLst/>
            <a:rect l="l" t="t" r="r" b="b"/>
            <a:pathLst>
              <a:path w="9235" h="10000">
                <a:moveTo>
                  <a:pt x="0" y="0"/>
                </a:moveTo>
                <a:lnTo>
                  <a:pt x="0" y="10000"/>
                </a:lnTo>
                <a:lnTo>
                  <a:pt x="6992" y="10000"/>
                </a:lnTo>
                <a:lnTo>
                  <a:pt x="9235" y="4853"/>
                </a:lnTo>
                <a:lnTo>
                  <a:pt x="699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文本框 927">
            <a:extLst>
              <a:ext uri="{FF2B5EF4-FFF2-40B4-BE49-F238E27FC236}">
                <a16:creationId xmlns:a16="http://schemas.microsoft.com/office/drawing/2014/main" id="{E7A2C2C1-5156-1069-95F3-7089BD1C6FEF}"/>
              </a:ext>
            </a:extLst>
          </p:cNvPr>
          <p:cNvSpPr>
            <a:spLocks noGrp="1"/>
          </p:cNvSpPr>
          <p:nvPr/>
        </p:nvSpPr>
        <p:spPr>
          <a:xfrm>
            <a:off x="4749684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 err="1">
                <a:solidFill>
                  <a:schemeClr val="bg1"/>
                </a:solidFill>
                <a:latin typeface="黑体"/>
                <a:ea typeface="黑体"/>
                <a:cs typeface="黑体"/>
              </a:rPr>
              <a:t>系统架构</a:t>
            </a:r>
            <a:endParaRPr sz="2000" dirty="0">
              <a:solidFill>
                <a:schemeClr val="bg1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22" name="文本框 926">
            <a:extLst>
              <a:ext uri="{FF2B5EF4-FFF2-40B4-BE49-F238E27FC236}">
                <a16:creationId xmlns:a16="http://schemas.microsoft.com/office/drawing/2014/main" id="{2E74E1AB-F851-0221-8795-FE0735A432B7}"/>
              </a:ext>
            </a:extLst>
          </p:cNvPr>
          <p:cNvSpPr>
            <a:spLocks noGrp="1"/>
          </p:cNvSpPr>
          <p:nvPr/>
        </p:nvSpPr>
        <p:spPr>
          <a:xfrm>
            <a:off x="6298131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认证流程</a:t>
            </a:r>
          </a:p>
        </p:txBody>
      </p:sp>
      <p:sp>
        <p:nvSpPr>
          <p:cNvPr id="23" name="文本框 928">
            <a:extLst>
              <a:ext uri="{FF2B5EF4-FFF2-40B4-BE49-F238E27FC236}">
                <a16:creationId xmlns:a16="http://schemas.microsoft.com/office/drawing/2014/main" id="{A12EEB9D-293F-A817-08EA-AAEB4B3BB1BF}"/>
              </a:ext>
            </a:extLst>
          </p:cNvPr>
          <p:cNvSpPr>
            <a:spLocks noGrp="1"/>
          </p:cNvSpPr>
          <p:nvPr/>
        </p:nvSpPr>
        <p:spPr>
          <a:xfrm>
            <a:off x="7798009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 err="1">
                <a:solidFill>
                  <a:srgbClr val="001942"/>
                </a:solidFill>
                <a:latin typeface="黑体"/>
                <a:ea typeface="黑体"/>
                <a:cs typeface="黑体"/>
              </a:rPr>
              <a:t>核心技术</a:t>
            </a:r>
            <a:endParaRPr sz="2000" dirty="0">
              <a:solidFill>
                <a:srgbClr val="001942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24" name="文本框 929">
            <a:extLst>
              <a:ext uri="{FF2B5EF4-FFF2-40B4-BE49-F238E27FC236}">
                <a16:creationId xmlns:a16="http://schemas.microsoft.com/office/drawing/2014/main" id="{049FE2C2-F5BD-5F07-223C-36A4A5853873}"/>
              </a:ext>
            </a:extLst>
          </p:cNvPr>
          <p:cNvSpPr>
            <a:spLocks noGrp="1"/>
          </p:cNvSpPr>
          <p:nvPr/>
        </p:nvSpPr>
        <p:spPr>
          <a:xfrm>
            <a:off x="9297887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测试结果</a:t>
            </a:r>
          </a:p>
        </p:txBody>
      </p:sp>
      <p:sp>
        <p:nvSpPr>
          <p:cNvPr id="25" name="文本框 930">
            <a:extLst>
              <a:ext uri="{FF2B5EF4-FFF2-40B4-BE49-F238E27FC236}">
                <a16:creationId xmlns:a16="http://schemas.microsoft.com/office/drawing/2014/main" id="{3FFB5AEB-8AEB-EE73-40F6-4A87A2B8F15E}"/>
              </a:ext>
            </a:extLst>
          </p:cNvPr>
          <p:cNvSpPr>
            <a:spLocks noGrp="1"/>
          </p:cNvSpPr>
          <p:nvPr/>
        </p:nvSpPr>
        <p:spPr>
          <a:xfrm>
            <a:off x="10797765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总结展望</a:t>
            </a:r>
          </a:p>
        </p:txBody>
      </p:sp>
      <p:sp>
        <p:nvSpPr>
          <p:cNvPr id="26" name="文本框 923">
            <a:extLst>
              <a:ext uri="{FF2B5EF4-FFF2-40B4-BE49-F238E27FC236}">
                <a16:creationId xmlns:a16="http://schemas.microsoft.com/office/drawing/2014/main" id="{B2A0FACE-8583-608D-7D03-6B1697717C07}"/>
              </a:ext>
            </a:extLst>
          </p:cNvPr>
          <p:cNvSpPr>
            <a:spLocks noGrp="1"/>
          </p:cNvSpPr>
          <p:nvPr/>
        </p:nvSpPr>
        <p:spPr>
          <a:xfrm>
            <a:off x="3285408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 err="1">
                <a:solidFill>
                  <a:schemeClr val="bg1"/>
                </a:solidFill>
                <a:latin typeface="黑体"/>
                <a:ea typeface="黑体"/>
                <a:cs typeface="黑体"/>
              </a:rPr>
              <a:t>项目背景</a:t>
            </a:r>
            <a:endParaRPr sz="2000" dirty="0">
              <a:solidFill>
                <a:schemeClr val="bg1"/>
              </a:solidFill>
              <a:latin typeface="黑体"/>
              <a:ea typeface="黑体"/>
              <a:cs typeface="黑体"/>
            </a:endParaRPr>
          </a:p>
        </p:txBody>
      </p:sp>
    </p:spTree>
    <p:extLst>
      <p:ext uri="{BB962C8B-B14F-4D97-AF65-F5344CB8AC3E}">
        <p14:creationId xmlns:p14="http://schemas.microsoft.com/office/powerpoint/2010/main" val="610279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532;p36">
            <a:extLst>
              <a:ext uri="{FF2B5EF4-FFF2-40B4-BE49-F238E27FC236}">
                <a16:creationId xmlns:a16="http://schemas.microsoft.com/office/drawing/2014/main" id="{6F98E871-560E-357B-4395-0415C970FF3F}"/>
              </a:ext>
            </a:extLst>
          </p:cNvPr>
          <p:cNvSpPr>
            <a:spLocks noGrp="1"/>
          </p:cNvSpPr>
          <p:nvPr/>
        </p:nvSpPr>
        <p:spPr>
          <a:xfrm>
            <a:off x="547513" y="510540"/>
            <a:ext cx="87630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9pPr>
          </a:lstStyle>
          <a:p>
            <a:pPr>
              <a:defRPr sz="2025" b="1">
                <a:solidFill>
                  <a:srgbClr val="17233C"/>
                </a:solidFill>
              </a:defRPr>
            </a:pPr>
            <a:r>
              <a:rPr sz="2400" b="0" dirty="0" err="1">
                <a:solidFill>
                  <a:srgbClr val="17233C"/>
                </a:solidFill>
                <a:latin typeface="楷体"/>
                <a:ea typeface="楷体"/>
                <a:cs typeface="楷体"/>
              </a:rPr>
              <a:t>访客授权、设备心跳与审计</a:t>
            </a:r>
            <a:endParaRPr sz="2400" b="0" dirty="0">
              <a:solidFill>
                <a:srgbClr val="17233C"/>
              </a:solidFill>
              <a:latin typeface="楷体"/>
              <a:ea typeface="楷体"/>
              <a:cs typeface="楷体"/>
            </a:endParaRPr>
          </a:p>
        </p:txBody>
      </p:sp>
      <p:sp>
        <p:nvSpPr>
          <p:cNvPr id="933" name="Google Shape;1593;p77">
            <a:extLst>
              <a:ext uri="{FF2B5EF4-FFF2-40B4-BE49-F238E27FC236}">
                <a16:creationId xmlns:a16="http://schemas.microsoft.com/office/drawing/2014/main" id="{45D427E6-2C03-8BC4-C3FE-7FA583FB8F8E}"/>
              </a:ext>
            </a:extLst>
          </p:cNvPr>
          <p:cNvSpPr>
            <a:spLocks noGrp="1"/>
          </p:cNvSpPr>
          <p:nvPr/>
        </p:nvSpPr>
        <p:spPr>
          <a:xfrm>
            <a:off x="122803" y="619920"/>
            <a:ext cx="424710" cy="355891"/>
          </a:xfrm>
          <a:custGeom>
            <a:avLst/>
            <a:gdLst/>
            <a:ahLst/>
            <a:cxnLst/>
            <a:rect l="l" t="t" r="r" b="b"/>
            <a:pathLst>
              <a:path w="1956" h="2684">
                <a:moveTo>
                  <a:pt x="1" y="0"/>
                </a:moveTo>
                <a:lnTo>
                  <a:pt x="787" y="1342"/>
                </a:lnTo>
                <a:lnTo>
                  <a:pt x="1" y="2683"/>
                </a:lnTo>
                <a:lnTo>
                  <a:pt x="1955" y="1342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1000">
                <a:srgbClr val="FFFFFF"/>
              </a:gs>
              <a:gs pos="46000">
                <a:srgbClr val="869FC6"/>
              </a:gs>
              <a:gs pos="62000">
                <a:srgbClr val="29559A"/>
              </a:gs>
            </a:gsLst>
            <a:lin ang="2400000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6" name="矩形 945">
            <a:extLst>
              <a:ext uri="{FF2B5EF4-FFF2-40B4-BE49-F238E27FC236}">
                <a16:creationId xmlns:a16="http://schemas.microsoft.com/office/drawing/2014/main" id="{79111A9C-2758-4FE0-AF5A-ADF0F52C5738}"/>
              </a:ext>
            </a:extLst>
          </p:cNvPr>
          <p:cNvSpPr>
            <a:spLocks noGrp="1"/>
          </p:cNvSpPr>
          <p:nvPr/>
        </p:nvSpPr>
        <p:spPr>
          <a:xfrm>
            <a:off x="1263127" y="6023609"/>
            <a:ext cx="895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29559A"/>
                </a:solidFill>
              </a:defRPr>
            </a:pPr>
            <a:r>
              <a:rPr sz="2400" dirty="0" err="1">
                <a:solidFill>
                  <a:srgbClr val="29559A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三类机制共同解决临时授权、设备可用性和事后追踪问题</a:t>
            </a:r>
            <a:r>
              <a:rPr sz="2400" dirty="0">
                <a:solidFill>
                  <a:srgbClr val="29559A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9BF7056-3BEC-2CE6-F2C3-09582AAF73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3178" cy="510540"/>
          </a:xfrm>
          <a:prstGeom prst="rect">
            <a:avLst/>
          </a:prstGeom>
          <a:solidFill>
            <a:srgbClr val="2955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Google Shape;1606;p77">
            <a:extLst>
              <a:ext uri="{FF2B5EF4-FFF2-40B4-BE49-F238E27FC236}">
                <a16:creationId xmlns:a16="http://schemas.microsoft.com/office/drawing/2014/main" id="{E30C5C21-26E8-2A15-24A4-AF352DD21ECE}"/>
              </a:ext>
            </a:extLst>
          </p:cNvPr>
          <p:cNvSpPr>
            <a:spLocks noGrp="1"/>
          </p:cNvSpPr>
          <p:nvPr/>
        </p:nvSpPr>
        <p:spPr>
          <a:xfrm>
            <a:off x="7781403" y="0"/>
            <a:ext cx="1439124" cy="510540"/>
          </a:xfrm>
          <a:custGeom>
            <a:avLst/>
            <a:gdLst/>
            <a:ahLst/>
            <a:cxnLst/>
            <a:rect l="l" t="t" r="r" b="b"/>
            <a:pathLst>
              <a:path w="9235" h="10000">
                <a:moveTo>
                  <a:pt x="0" y="0"/>
                </a:moveTo>
                <a:lnTo>
                  <a:pt x="0" y="10000"/>
                </a:lnTo>
                <a:lnTo>
                  <a:pt x="6992" y="10000"/>
                </a:lnTo>
                <a:lnTo>
                  <a:pt x="9235" y="4853"/>
                </a:lnTo>
                <a:lnTo>
                  <a:pt x="699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文本框 927">
            <a:extLst>
              <a:ext uri="{FF2B5EF4-FFF2-40B4-BE49-F238E27FC236}">
                <a16:creationId xmlns:a16="http://schemas.microsoft.com/office/drawing/2014/main" id="{2C1200E0-AF2C-A219-7AD7-CCEC4358D909}"/>
              </a:ext>
            </a:extLst>
          </p:cNvPr>
          <p:cNvSpPr>
            <a:spLocks noGrp="1"/>
          </p:cNvSpPr>
          <p:nvPr/>
        </p:nvSpPr>
        <p:spPr>
          <a:xfrm>
            <a:off x="4749684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 err="1">
                <a:solidFill>
                  <a:schemeClr val="bg1"/>
                </a:solidFill>
                <a:latin typeface="黑体"/>
                <a:ea typeface="黑体"/>
                <a:cs typeface="黑体"/>
              </a:rPr>
              <a:t>系统架构</a:t>
            </a:r>
            <a:endParaRPr sz="2000" dirty="0">
              <a:solidFill>
                <a:schemeClr val="bg1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" name="文本框 926">
            <a:extLst>
              <a:ext uri="{FF2B5EF4-FFF2-40B4-BE49-F238E27FC236}">
                <a16:creationId xmlns:a16="http://schemas.microsoft.com/office/drawing/2014/main" id="{338E69BB-3061-06F5-7E1A-AC721F870EB6}"/>
              </a:ext>
            </a:extLst>
          </p:cNvPr>
          <p:cNvSpPr>
            <a:spLocks noGrp="1"/>
          </p:cNvSpPr>
          <p:nvPr/>
        </p:nvSpPr>
        <p:spPr>
          <a:xfrm>
            <a:off x="6298131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认证流程</a:t>
            </a:r>
          </a:p>
        </p:txBody>
      </p:sp>
      <p:sp>
        <p:nvSpPr>
          <p:cNvPr id="6" name="文本框 928">
            <a:extLst>
              <a:ext uri="{FF2B5EF4-FFF2-40B4-BE49-F238E27FC236}">
                <a16:creationId xmlns:a16="http://schemas.microsoft.com/office/drawing/2014/main" id="{D5FD3F43-A4F2-5DE6-B192-FF55ECA7933F}"/>
              </a:ext>
            </a:extLst>
          </p:cNvPr>
          <p:cNvSpPr>
            <a:spLocks noGrp="1"/>
          </p:cNvSpPr>
          <p:nvPr/>
        </p:nvSpPr>
        <p:spPr>
          <a:xfrm>
            <a:off x="7798009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 err="1">
                <a:solidFill>
                  <a:srgbClr val="001942"/>
                </a:solidFill>
                <a:latin typeface="黑体"/>
                <a:ea typeface="黑体"/>
                <a:cs typeface="黑体"/>
              </a:rPr>
              <a:t>核心技术</a:t>
            </a:r>
            <a:endParaRPr sz="2000" dirty="0">
              <a:solidFill>
                <a:srgbClr val="001942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7" name="文本框 929">
            <a:extLst>
              <a:ext uri="{FF2B5EF4-FFF2-40B4-BE49-F238E27FC236}">
                <a16:creationId xmlns:a16="http://schemas.microsoft.com/office/drawing/2014/main" id="{7E3D709B-C32E-4E0D-AED6-B4119E4174B6}"/>
              </a:ext>
            </a:extLst>
          </p:cNvPr>
          <p:cNvSpPr>
            <a:spLocks noGrp="1"/>
          </p:cNvSpPr>
          <p:nvPr/>
        </p:nvSpPr>
        <p:spPr>
          <a:xfrm>
            <a:off x="9297887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测试结果</a:t>
            </a:r>
          </a:p>
        </p:txBody>
      </p:sp>
      <p:sp>
        <p:nvSpPr>
          <p:cNvPr id="8" name="文本框 930">
            <a:extLst>
              <a:ext uri="{FF2B5EF4-FFF2-40B4-BE49-F238E27FC236}">
                <a16:creationId xmlns:a16="http://schemas.microsoft.com/office/drawing/2014/main" id="{37DD7870-40BA-2BD8-90AF-2A9F85D631B9}"/>
              </a:ext>
            </a:extLst>
          </p:cNvPr>
          <p:cNvSpPr>
            <a:spLocks noGrp="1"/>
          </p:cNvSpPr>
          <p:nvPr/>
        </p:nvSpPr>
        <p:spPr>
          <a:xfrm>
            <a:off x="10797765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总结展望</a:t>
            </a:r>
          </a:p>
        </p:txBody>
      </p:sp>
      <p:sp>
        <p:nvSpPr>
          <p:cNvPr id="9" name="文本框 923">
            <a:extLst>
              <a:ext uri="{FF2B5EF4-FFF2-40B4-BE49-F238E27FC236}">
                <a16:creationId xmlns:a16="http://schemas.microsoft.com/office/drawing/2014/main" id="{700B1AB1-8103-6720-883E-D0C09602EA02}"/>
              </a:ext>
            </a:extLst>
          </p:cNvPr>
          <p:cNvSpPr>
            <a:spLocks noGrp="1"/>
          </p:cNvSpPr>
          <p:nvPr/>
        </p:nvSpPr>
        <p:spPr>
          <a:xfrm>
            <a:off x="3285408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 err="1">
                <a:solidFill>
                  <a:schemeClr val="bg1"/>
                </a:solidFill>
                <a:latin typeface="黑体"/>
                <a:ea typeface="黑体"/>
                <a:cs typeface="黑体"/>
              </a:rPr>
              <a:t>项目背景</a:t>
            </a:r>
            <a:endParaRPr sz="2000" dirty="0">
              <a:solidFill>
                <a:schemeClr val="bg1"/>
              </a:solidFill>
              <a:latin typeface="黑体"/>
              <a:ea typeface="黑体"/>
              <a:cs typeface="黑体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5AB3A30-8739-7131-5C0B-ED88045BE99C}"/>
              </a:ext>
            </a:extLst>
          </p:cNvPr>
          <p:cNvPicPr>
            <a:picLocks/>
          </p:cNvPicPr>
          <p:nvPr/>
        </p:nvPicPr>
        <p:blipFill>
          <a:blip r:embed="rId3"/>
          <a:srcRect l="63" t="14889" r="-63" b="19349"/>
          <a:stretch>
            <a:fillRect/>
          </a:stretch>
        </p:blipFill>
        <p:spPr>
          <a:xfrm>
            <a:off x="3239" y="1174014"/>
            <a:ext cx="12185522" cy="4509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279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矩形 924">
            <a:extLst>
              <a:ext uri="{FF2B5EF4-FFF2-40B4-BE49-F238E27FC236}">
                <a16:creationId xmlns:a16="http://schemas.microsoft.com/office/drawing/2014/main" id="{EF206BDF-1559-C2F2-43C8-11A58FEAE3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3178" cy="510540"/>
          </a:xfrm>
          <a:prstGeom prst="rect">
            <a:avLst/>
          </a:prstGeom>
          <a:solidFill>
            <a:srgbClr val="2955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27" name="文本框 926">
            <a:extLst>
              <a:ext uri="{FF2B5EF4-FFF2-40B4-BE49-F238E27FC236}">
                <a16:creationId xmlns:a16="http://schemas.microsoft.com/office/drawing/2014/main" id="{B4C12BDD-67D4-4B90-A2DF-3CBEF474A073}"/>
              </a:ext>
            </a:extLst>
          </p:cNvPr>
          <p:cNvSpPr>
            <a:spLocks noGrp="1"/>
          </p:cNvSpPr>
          <p:nvPr/>
        </p:nvSpPr>
        <p:spPr>
          <a:xfrm>
            <a:off x="6298131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认证流程</a:t>
            </a:r>
          </a:p>
        </p:txBody>
      </p:sp>
      <p:sp>
        <p:nvSpPr>
          <p:cNvPr id="928" name="文本框 927">
            <a:extLst>
              <a:ext uri="{FF2B5EF4-FFF2-40B4-BE49-F238E27FC236}">
                <a16:creationId xmlns:a16="http://schemas.microsoft.com/office/drawing/2014/main" id="{75DF5E1B-A3C5-3D2B-632E-E9FAD5E3E94B}"/>
              </a:ext>
            </a:extLst>
          </p:cNvPr>
          <p:cNvSpPr>
            <a:spLocks noGrp="1"/>
          </p:cNvSpPr>
          <p:nvPr/>
        </p:nvSpPr>
        <p:spPr>
          <a:xfrm>
            <a:off x="4811216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系统架构</a:t>
            </a:r>
          </a:p>
        </p:txBody>
      </p:sp>
      <p:sp>
        <p:nvSpPr>
          <p:cNvPr id="929" name="文本框 928">
            <a:extLst>
              <a:ext uri="{FF2B5EF4-FFF2-40B4-BE49-F238E27FC236}">
                <a16:creationId xmlns:a16="http://schemas.microsoft.com/office/drawing/2014/main" id="{CB2BCDAE-A9CF-8A5D-DD26-0302E177E248}"/>
              </a:ext>
            </a:extLst>
          </p:cNvPr>
          <p:cNvSpPr>
            <a:spLocks noGrp="1"/>
          </p:cNvSpPr>
          <p:nvPr/>
        </p:nvSpPr>
        <p:spPr>
          <a:xfrm>
            <a:off x="7798009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核心技术</a:t>
            </a:r>
          </a:p>
        </p:txBody>
      </p:sp>
      <p:sp>
        <p:nvSpPr>
          <p:cNvPr id="931" name="文本框 930">
            <a:extLst>
              <a:ext uri="{FF2B5EF4-FFF2-40B4-BE49-F238E27FC236}">
                <a16:creationId xmlns:a16="http://schemas.microsoft.com/office/drawing/2014/main" id="{2BC8ADA3-2E93-CE86-94FC-67DD6565085E}"/>
              </a:ext>
            </a:extLst>
          </p:cNvPr>
          <p:cNvSpPr>
            <a:spLocks noGrp="1"/>
          </p:cNvSpPr>
          <p:nvPr/>
        </p:nvSpPr>
        <p:spPr>
          <a:xfrm>
            <a:off x="10797765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总结展望</a:t>
            </a:r>
          </a:p>
        </p:txBody>
      </p:sp>
      <p:sp>
        <p:nvSpPr>
          <p:cNvPr id="923" name="Google Shape;1606;p77">
            <a:extLst>
              <a:ext uri="{FF2B5EF4-FFF2-40B4-BE49-F238E27FC236}">
                <a16:creationId xmlns:a16="http://schemas.microsoft.com/office/drawing/2014/main" id="{DAB435B3-4DA6-C35E-2BBB-8528D6A98D3C}"/>
              </a:ext>
            </a:extLst>
          </p:cNvPr>
          <p:cNvSpPr>
            <a:spLocks noGrp="1"/>
          </p:cNvSpPr>
          <p:nvPr/>
        </p:nvSpPr>
        <p:spPr>
          <a:xfrm>
            <a:off x="9305925" y="0"/>
            <a:ext cx="1439124" cy="510540"/>
          </a:xfrm>
          <a:custGeom>
            <a:avLst/>
            <a:gdLst/>
            <a:ahLst/>
            <a:cxnLst/>
            <a:rect l="l" t="t" r="r" b="b"/>
            <a:pathLst>
              <a:path w="9235" h="10000">
                <a:moveTo>
                  <a:pt x="0" y="0"/>
                </a:moveTo>
                <a:lnTo>
                  <a:pt x="0" y="10000"/>
                </a:lnTo>
                <a:lnTo>
                  <a:pt x="6992" y="10000"/>
                </a:lnTo>
                <a:lnTo>
                  <a:pt x="9235" y="4853"/>
                </a:lnTo>
                <a:lnTo>
                  <a:pt x="699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4" name="文本框 923">
            <a:extLst>
              <a:ext uri="{FF2B5EF4-FFF2-40B4-BE49-F238E27FC236}">
                <a16:creationId xmlns:a16="http://schemas.microsoft.com/office/drawing/2014/main" id="{E688A2F4-9EFC-FD89-CD0E-7A043EEB9E4D}"/>
              </a:ext>
            </a:extLst>
          </p:cNvPr>
          <p:cNvSpPr>
            <a:spLocks noGrp="1"/>
          </p:cNvSpPr>
          <p:nvPr/>
        </p:nvSpPr>
        <p:spPr>
          <a:xfrm>
            <a:off x="3285408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 err="1">
                <a:solidFill>
                  <a:schemeClr val="bg1"/>
                </a:solidFill>
                <a:latin typeface="黑体"/>
                <a:ea typeface="黑体"/>
                <a:cs typeface="黑体"/>
              </a:rPr>
              <a:t>项目背景</a:t>
            </a:r>
            <a:endParaRPr sz="2000" dirty="0">
              <a:solidFill>
                <a:schemeClr val="bg1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932" name="Google Shape;532;p36">
            <a:extLst>
              <a:ext uri="{FF2B5EF4-FFF2-40B4-BE49-F238E27FC236}">
                <a16:creationId xmlns:a16="http://schemas.microsoft.com/office/drawing/2014/main" id="{6F98E871-560E-357B-4395-0415C970FF3F}"/>
              </a:ext>
            </a:extLst>
          </p:cNvPr>
          <p:cNvSpPr>
            <a:spLocks noGrp="1"/>
          </p:cNvSpPr>
          <p:nvPr/>
        </p:nvSpPr>
        <p:spPr>
          <a:xfrm>
            <a:off x="542925" y="490538"/>
            <a:ext cx="87630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9pPr>
          </a:lstStyle>
          <a:p>
            <a:pPr>
              <a:defRPr sz="2025" b="1">
                <a:solidFill>
                  <a:srgbClr val="17233C"/>
                </a:solidFill>
              </a:defRPr>
            </a:pPr>
            <a:r>
              <a:rPr sz="2400" b="0" dirty="0" err="1">
                <a:solidFill>
                  <a:srgbClr val="17233C"/>
                </a:solidFill>
                <a:latin typeface="楷体"/>
                <a:ea typeface="楷体"/>
                <a:cs typeface="楷体"/>
              </a:rPr>
              <a:t>测试结果</a:t>
            </a:r>
            <a:endParaRPr sz="2400" b="0" dirty="0">
              <a:solidFill>
                <a:srgbClr val="17233C"/>
              </a:solidFill>
              <a:latin typeface="楷体"/>
              <a:ea typeface="楷体"/>
              <a:cs typeface="楷体"/>
            </a:endParaRPr>
          </a:p>
        </p:txBody>
      </p:sp>
      <p:sp>
        <p:nvSpPr>
          <p:cNvPr id="933" name="Google Shape;1593;p77">
            <a:extLst>
              <a:ext uri="{FF2B5EF4-FFF2-40B4-BE49-F238E27FC236}">
                <a16:creationId xmlns:a16="http://schemas.microsoft.com/office/drawing/2014/main" id="{45D427E6-2C03-8BC4-C3FE-7FA583FB8F8E}"/>
              </a:ext>
            </a:extLst>
          </p:cNvPr>
          <p:cNvSpPr>
            <a:spLocks noGrp="1"/>
          </p:cNvSpPr>
          <p:nvPr/>
        </p:nvSpPr>
        <p:spPr>
          <a:xfrm>
            <a:off x="118215" y="604496"/>
            <a:ext cx="424710" cy="355891"/>
          </a:xfrm>
          <a:custGeom>
            <a:avLst/>
            <a:gdLst/>
            <a:ahLst/>
            <a:cxnLst/>
            <a:rect l="l" t="t" r="r" b="b"/>
            <a:pathLst>
              <a:path w="1956" h="2684">
                <a:moveTo>
                  <a:pt x="1" y="0"/>
                </a:moveTo>
                <a:lnTo>
                  <a:pt x="787" y="1342"/>
                </a:lnTo>
                <a:lnTo>
                  <a:pt x="1" y="2683"/>
                </a:lnTo>
                <a:lnTo>
                  <a:pt x="1955" y="1342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1000">
                <a:srgbClr val="FFFFFF"/>
              </a:gs>
              <a:gs pos="46000">
                <a:srgbClr val="869FC6"/>
              </a:gs>
              <a:gs pos="62000">
                <a:srgbClr val="29559A"/>
              </a:gs>
            </a:gsLst>
            <a:lin ang="2400000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0" name="文本框 929">
            <a:extLst>
              <a:ext uri="{FF2B5EF4-FFF2-40B4-BE49-F238E27FC236}">
                <a16:creationId xmlns:a16="http://schemas.microsoft.com/office/drawing/2014/main" id="{3D13CED5-2D49-616D-4796-211D41A62A5B}"/>
              </a:ext>
            </a:extLst>
          </p:cNvPr>
          <p:cNvSpPr>
            <a:spLocks noGrp="1"/>
          </p:cNvSpPr>
          <p:nvPr/>
        </p:nvSpPr>
        <p:spPr>
          <a:xfrm>
            <a:off x="9305925" y="90428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 err="1">
                <a:solidFill>
                  <a:srgbClr val="001942"/>
                </a:solidFill>
                <a:latin typeface="黑体"/>
                <a:ea typeface="黑体"/>
                <a:cs typeface="黑体"/>
              </a:rPr>
              <a:t>测试结果</a:t>
            </a:r>
            <a:endParaRPr sz="2000" dirty="0">
              <a:solidFill>
                <a:srgbClr val="001942"/>
              </a:solidFill>
              <a:latin typeface="黑体"/>
              <a:ea typeface="黑体"/>
              <a:cs typeface="黑体"/>
            </a:endParaRPr>
          </a:p>
        </p:txBody>
      </p:sp>
    </p:spTree>
    <p:extLst>
      <p:ext uri="{BB962C8B-B14F-4D97-AF65-F5344CB8AC3E}">
        <p14:creationId xmlns:p14="http://schemas.microsoft.com/office/powerpoint/2010/main" val="610279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85D36-28B6-47B0-1640-16F8E9F51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矩形 924">
            <a:extLst>
              <a:ext uri="{FF2B5EF4-FFF2-40B4-BE49-F238E27FC236}">
                <a16:creationId xmlns:a16="http://schemas.microsoft.com/office/drawing/2014/main" id="{001A22D8-2BD9-B11B-D76C-867152D47E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3178" cy="510540"/>
          </a:xfrm>
          <a:prstGeom prst="rect">
            <a:avLst/>
          </a:prstGeom>
          <a:solidFill>
            <a:srgbClr val="2955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27" name="文本框 926">
            <a:extLst>
              <a:ext uri="{FF2B5EF4-FFF2-40B4-BE49-F238E27FC236}">
                <a16:creationId xmlns:a16="http://schemas.microsoft.com/office/drawing/2014/main" id="{E01C963F-2BD6-7041-3F18-47687B010059}"/>
              </a:ext>
            </a:extLst>
          </p:cNvPr>
          <p:cNvSpPr>
            <a:spLocks noGrp="1"/>
          </p:cNvSpPr>
          <p:nvPr/>
        </p:nvSpPr>
        <p:spPr>
          <a:xfrm>
            <a:off x="6298131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认证流程</a:t>
            </a:r>
          </a:p>
        </p:txBody>
      </p:sp>
      <p:sp>
        <p:nvSpPr>
          <p:cNvPr id="928" name="文本框 927">
            <a:extLst>
              <a:ext uri="{FF2B5EF4-FFF2-40B4-BE49-F238E27FC236}">
                <a16:creationId xmlns:a16="http://schemas.microsoft.com/office/drawing/2014/main" id="{0911B06C-03AC-6543-4136-BA8325BA1337}"/>
              </a:ext>
            </a:extLst>
          </p:cNvPr>
          <p:cNvSpPr>
            <a:spLocks noGrp="1"/>
          </p:cNvSpPr>
          <p:nvPr/>
        </p:nvSpPr>
        <p:spPr>
          <a:xfrm>
            <a:off x="4811216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系统架构</a:t>
            </a:r>
          </a:p>
        </p:txBody>
      </p:sp>
      <p:sp>
        <p:nvSpPr>
          <p:cNvPr id="929" name="文本框 928">
            <a:extLst>
              <a:ext uri="{FF2B5EF4-FFF2-40B4-BE49-F238E27FC236}">
                <a16:creationId xmlns:a16="http://schemas.microsoft.com/office/drawing/2014/main" id="{5ABE7B00-A2B8-C969-BDB7-CA546A5C3630}"/>
              </a:ext>
            </a:extLst>
          </p:cNvPr>
          <p:cNvSpPr>
            <a:spLocks noGrp="1"/>
          </p:cNvSpPr>
          <p:nvPr/>
        </p:nvSpPr>
        <p:spPr>
          <a:xfrm>
            <a:off x="7798009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核心技术</a:t>
            </a:r>
          </a:p>
        </p:txBody>
      </p:sp>
      <p:sp>
        <p:nvSpPr>
          <p:cNvPr id="931" name="文本框 930">
            <a:extLst>
              <a:ext uri="{FF2B5EF4-FFF2-40B4-BE49-F238E27FC236}">
                <a16:creationId xmlns:a16="http://schemas.microsoft.com/office/drawing/2014/main" id="{71C38BC3-D6C3-1581-1930-0C20E1EC0B97}"/>
              </a:ext>
            </a:extLst>
          </p:cNvPr>
          <p:cNvSpPr>
            <a:spLocks noGrp="1"/>
          </p:cNvSpPr>
          <p:nvPr/>
        </p:nvSpPr>
        <p:spPr>
          <a:xfrm>
            <a:off x="10797765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总结展望</a:t>
            </a:r>
          </a:p>
        </p:txBody>
      </p:sp>
      <p:sp>
        <p:nvSpPr>
          <p:cNvPr id="923" name="Google Shape;1606;p77">
            <a:extLst>
              <a:ext uri="{FF2B5EF4-FFF2-40B4-BE49-F238E27FC236}">
                <a16:creationId xmlns:a16="http://schemas.microsoft.com/office/drawing/2014/main" id="{DCEC7E31-B981-EAED-113B-F392BB5859D3}"/>
              </a:ext>
            </a:extLst>
          </p:cNvPr>
          <p:cNvSpPr>
            <a:spLocks noGrp="1"/>
          </p:cNvSpPr>
          <p:nvPr/>
        </p:nvSpPr>
        <p:spPr>
          <a:xfrm>
            <a:off x="9305925" y="0"/>
            <a:ext cx="1439124" cy="510540"/>
          </a:xfrm>
          <a:custGeom>
            <a:avLst/>
            <a:gdLst/>
            <a:ahLst/>
            <a:cxnLst/>
            <a:rect l="l" t="t" r="r" b="b"/>
            <a:pathLst>
              <a:path w="9235" h="10000">
                <a:moveTo>
                  <a:pt x="0" y="0"/>
                </a:moveTo>
                <a:lnTo>
                  <a:pt x="0" y="10000"/>
                </a:lnTo>
                <a:lnTo>
                  <a:pt x="6992" y="10000"/>
                </a:lnTo>
                <a:lnTo>
                  <a:pt x="9235" y="4853"/>
                </a:lnTo>
                <a:lnTo>
                  <a:pt x="699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4" name="文本框 923">
            <a:extLst>
              <a:ext uri="{FF2B5EF4-FFF2-40B4-BE49-F238E27FC236}">
                <a16:creationId xmlns:a16="http://schemas.microsoft.com/office/drawing/2014/main" id="{6824F32E-7463-738E-3EC3-2FAD3D0ED47A}"/>
              </a:ext>
            </a:extLst>
          </p:cNvPr>
          <p:cNvSpPr>
            <a:spLocks noGrp="1"/>
          </p:cNvSpPr>
          <p:nvPr/>
        </p:nvSpPr>
        <p:spPr>
          <a:xfrm>
            <a:off x="3285408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 err="1">
                <a:solidFill>
                  <a:schemeClr val="bg1"/>
                </a:solidFill>
                <a:latin typeface="黑体"/>
                <a:ea typeface="黑体"/>
                <a:cs typeface="黑体"/>
              </a:rPr>
              <a:t>项目背景</a:t>
            </a:r>
            <a:endParaRPr sz="2000" dirty="0">
              <a:solidFill>
                <a:schemeClr val="bg1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932" name="Google Shape;532;p36">
            <a:extLst>
              <a:ext uri="{FF2B5EF4-FFF2-40B4-BE49-F238E27FC236}">
                <a16:creationId xmlns:a16="http://schemas.microsoft.com/office/drawing/2014/main" id="{A96E3B48-3FF7-162E-8791-1E3450C78CF2}"/>
              </a:ext>
            </a:extLst>
          </p:cNvPr>
          <p:cNvSpPr>
            <a:spLocks noGrp="1"/>
          </p:cNvSpPr>
          <p:nvPr/>
        </p:nvSpPr>
        <p:spPr>
          <a:xfrm>
            <a:off x="547513" y="502590"/>
            <a:ext cx="87630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9pPr>
          </a:lstStyle>
          <a:p>
            <a:pPr>
              <a:defRPr sz="2025" b="1">
                <a:solidFill>
                  <a:srgbClr val="17233C"/>
                </a:solidFill>
              </a:defRPr>
            </a:pPr>
            <a:r>
              <a:rPr sz="2400" b="0" dirty="0" err="1">
                <a:solidFill>
                  <a:srgbClr val="17233C"/>
                </a:solidFill>
                <a:latin typeface="楷体"/>
                <a:ea typeface="楷体"/>
                <a:cs typeface="楷体"/>
              </a:rPr>
              <a:t>并发负载测试结果</a:t>
            </a:r>
            <a:endParaRPr sz="2400" b="0" dirty="0">
              <a:solidFill>
                <a:srgbClr val="17233C"/>
              </a:solidFill>
              <a:latin typeface="楷体"/>
              <a:ea typeface="楷体"/>
              <a:cs typeface="楷体"/>
            </a:endParaRPr>
          </a:p>
        </p:txBody>
      </p:sp>
      <p:sp>
        <p:nvSpPr>
          <p:cNvPr id="933" name="Google Shape;1593;p77">
            <a:extLst>
              <a:ext uri="{FF2B5EF4-FFF2-40B4-BE49-F238E27FC236}">
                <a16:creationId xmlns:a16="http://schemas.microsoft.com/office/drawing/2014/main" id="{6249A4BD-C3EA-58AF-83EB-54B4344F654E}"/>
              </a:ext>
            </a:extLst>
          </p:cNvPr>
          <p:cNvSpPr>
            <a:spLocks noGrp="1"/>
          </p:cNvSpPr>
          <p:nvPr/>
        </p:nvSpPr>
        <p:spPr>
          <a:xfrm>
            <a:off x="122803" y="613753"/>
            <a:ext cx="424710" cy="355891"/>
          </a:xfrm>
          <a:custGeom>
            <a:avLst/>
            <a:gdLst/>
            <a:ahLst/>
            <a:cxnLst/>
            <a:rect l="l" t="t" r="r" b="b"/>
            <a:pathLst>
              <a:path w="1956" h="2684">
                <a:moveTo>
                  <a:pt x="1" y="0"/>
                </a:moveTo>
                <a:lnTo>
                  <a:pt x="787" y="1342"/>
                </a:lnTo>
                <a:lnTo>
                  <a:pt x="1" y="2683"/>
                </a:lnTo>
                <a:lnTo>
                  <a:pt x="1955" y="1342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1000">
                <a:srgbClr val="FFFFFF"/>
              </a:gs>
              <a:gs pos="46000">
                <a:srgbClr val="869FC6"/>
              </a:gs>
              <a:gs pos="62000">
                <a:srgbClr val="29559A"/>
              </a:gs>
            </a:gsLst>
            <a:lin ang="2400000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955" name="Chart">
            <a:extLst>
              <a:ext uri="{FF2B5EF4-FFF2-40B4-BE49-F238E27FC236}">
                <a16:creationId xmlns:a16="http://schemas.microsoft.com/office/drawing/2014/main" id="{227CA73E-A887-9DE3-616B-5B7B0A099912}"/>
              </a:ext>
            </a:extLst>
          </p:cNvPr>
          <p:cNvGraphicFramePr/>
          <p:nvPr/>
        </p:nvGraphicFramePr>
        <p:xfrm>
          <a:off x="590550" y="1428750"/>
          <a:ext cx="5286375" cy="3476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56" name="Chart">
            <a:extLst>
              <a:ext uri="{FF2B5EF4-FFF2-40B4-BE49-F238E27FC236}">
                <a16:creationId xmlns:a16="http://schemas.microsoft.com/office/drawing/2014/main" id="{1C47407E-B09F-9660-D04C-CA7083B20B31}"/>
              </a:ext>
            </a:extLst>
          </p:cNvPr>
          <p:cNvGraphicFramePr/>
          <p:nvPr/>
        </p:nvGraphicFramePr>
        <p:xfrm>
          <a:off x="6315075" y="1428750"/>
          <a:ext cx="5286375" cy="3476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36" name="矩形: 圆角 935">
            <a:extLst>
              <a:ext uri="{FF2B5EF4-FFF2-40B4-BE49-F238E27FC236}">
                <a16:creationId xmlns:a16="http://schemas.microsoft.com/office/drawing/2014/main" id="{5FE1C669-849D-C45C-47B4-280B719292B4}"/>
              </a:ext>
            </a:extLst>
          </p:cNvPr>
          <p:cNvSpPr>
            <a:spLocks noGrp="1"/>
          </p:cNvSpPr>
          <p:nvPr/>
        </p:nvSpPr>
        <p:spPr>
          <a:xfrm>
            <a:off x="1619250" y="5219700"/>
            <a:ext cx="23812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CDD8E7"/>
            </a:solidFill>
            <a:prstDash val="solid"/>
          </a:ln>
        </p:spPr>
      </p:sp>
      <p:sp>
        <p:nvSpPr>
          <p:cNvPr id="937" name="矩形 936">
            <a:extLst>
              <a:ext uri="{FF2B5EF4-FFF2-40B4-BE49-F238E27FC236}">
                <a16:creationId xmlns:a16="http://schemas.microsoft.com/office/drawing/2014/main" id="{4A88DF88-6131-A4F9-B3E6-24FE042632B1}"/>
              </a:ext>
            </a:extLst>
          </p:cNvPr>
          <p:cNvSpPr>
            <a:spLocks noGrp="1"/>
          </p:cNvSpPr>
          <p:nvPr/>
        </p:nvSpPr>
        <p:spPr>
          <a:xfrm>
            <a:off x="1733550" y="5324475"/>
            <a:ext cx="2152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70AD47"/>
                </a:solidFill>
              </a:defRPr>
            </a:pPr>
            <a:r>
              <a:rPr sz="2025" b="1">
                <a:solidFill>
                  <a:srgbClr val="70AD47"/>
                </a:solidFill>
              </a:rPr>
              <a:t>0</a:t>
            </a:r>
          </a:p>
        </p:txBody>
      </p:sp>
      <p:sp>
        <p:nvSpPr>
          <p:cNvPr id="938" name="矩形 937">
            <a:extLst>
              <a:ext uri="{FF2B5EF4-FFF2-40B4-BE49-F238E27FC236}">
                <a16:creationId xmlns:a16="http://schemas.microsoft.com/office/drawing/2014/main" id="{BA03B105-A927-735E-D7E9-3DFEEDA32F9E}"/>
              </a:ext>
            </a:extLst>
          </p:cNvPr>
          <p:cNvSpPr>
            <a:spLocks noGrp="1"/>
          </p:cNvSpPr>
          <p:nvPr/>
        </p:nvSpPr>
        <p:spPr>
          <a:xfrm>
            <a:off x="1733550" y="5705475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5B6575"/>
                </a:solidFill>
              </a:defRPr>
            </a:pPr>
            <a:r>
              <a:rPr sz="1600" b="0" dirty="0" err="1">
                <a:solidFill>
                  <a:srgbClr val="5B657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三档并发失败数</a:t>
            </a:r>
            <a:endParaRPr sz="1600" b="0" dirty="0">
              <a:solidFill>
                <a:srgbClr val="5B657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39" name="矩形: 圆角 938">
            <a:extLst>
              <a:ext uri="{FF2B5EF4-FFF2-40B4-BE49-F238E27FC236}">
                <a16:creationId xmlns:a16="http://schemas.microsoft.com/office/drawing/2014/main" id="{ABF7FEC8-ADC1-3559-371B-F074C040AB70}"/>
              </a:ext>
            </a:extLst>
          </p:cNvPr>
          <p:cNvSpPr>
            <a:spLocks noGrp="1"/>
          </p:cNvSpPr>
          <p:nvPr/>
        </p:nvSpPr>
        <p:spPr>
          <a:xfrm>
            <a:off x="4905375" y="5219700"/>
            <a:ext cx="23812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CDD8E7"/>
            </a:solidFill>
            <a:prstDash val="solid"/>
          </a:ln>
        </p:spPr>
      </p:sp>
      <p:sp>
        <p:nvSpPr>
          <p:cNvPr id="940" name="矩形 939">
            <a:extLst>
              <a:ext uri="{FF2B5EF4-FFF2-40B4-BE49-F238E27FC236}">
                <a16:creationId xmlns:a16="http://schemas.microsoft.com/office/drawing/2014/main" id="{E804680B-1732-4C8A-E8CA-549945DD66F6}"/>
              </a:ext>
            </a:extLst>
          </p:cNvPr>
          <p:cNvSpPr>
            <a:spLocks noGrp="1"/>
          </p:cNvSpPr>
          <p:nvPr/>
        </p:nvSpPr>
        <p:spPr>
          <a:xfrm>
            <a:off x="5019675" y="5324475"/>
            <a:ext cx="2152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29559A"/>
                </a:solidFill>
              </a:defRPr>
            </a:pPr>
            <a:r>
              <a:rPr sz="2025" b="1">
                <a:solidFill>
                  <a:srgbClr val="29559A"/>
                </a:solidFill>
              </a:rPr>
              <a:t>31.67 RPS</a:t>
            </a:r>
          </a:p>
        </p:txBody>
      </p:sp>
      <p:sp>
        <p:nvSpPr>
          <p:cNvPr id="941" name="矩形 940">
            <a:extLst>
              <a:ext uri="{FF2B5EF4-FFF2-40B4-BE49-F238E27FC236}">
                <a16:creationId xmlns:a16="http://schemas.microsoft.com/office/drawing/2014/main" id="{0194988D-BAF1-1FAE-9DF9-43B90B06014B}"/>
              </a:ext>
            </a:extLst>
          </p:cNvPr>
          <p:cNvSpPr>
            <a:spLocks noGrp="1"/>
          </p:cNvSpPr>
          <p:nvPr/>
        </p:nvSpPr>
        <p:spPr>
          <a:xfrm>
            <a:off x="5019675" y="5705475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5B6575"/>
                </a:solidFill>
              </a:defRPr>
            </a:pPr>
            <a:r>
              <a:rPr sz="1600" b="0">
                <a:solidFill>
                  <a:srgbClr val="5B657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100 并发聚合吞吐</a:t>
            </a:r>
          </a:p>
        </p:txBody>
      </p:sp>
      <p:sp>
        <p:nvSpPr>
          <p:cNvPr id="942" name="矩形: 圆角 941">
            <a:extLst>
              <a:ext uri="{FF2B5EF4-FFF2-40B4-BE49-F238E27FC236}">
                <a16:creationId xmlns:a16="http://schemas.microsoft.com/office/drawing/2014/main" id="{08F99B6B-F879-F781-F835-94E80B70DB60}"/>
              </a:ext>
            </a:extLst>
          </p:cNvPr>
          <p:cNvSpPr>
            <a:spLocks noGrp="1"/>
          </p:cNvSpPr>
          <p:nvPr/>
        </p:nvSpPr>
        <p:spPr>
          <a:xfrm>
            <a:off x="8191500" y="5219700"/>
            <a:ext cx="23812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CDD8E7"/>
            </a:solidFill>
            <a:prstDash val="solid"/>
          </a:ln>
        </p:spPr>
      </p:sp>
      <p:sp>
        <p:nvSpPr>
          <p:cNvPr id="943" name="矩形 942">
            <a:extLst>
              <a:ext uri="{FF2B5EF4-FFF2-40B4-BE49-F238E27FC236}">
                <a16:creationId xmlns:a16="http://schemas.microsoft.com/office/drawing/2014/main" id="{6D25DCCD-3D4A-877C-9410-1290DBE68F13}"/>
              </a:ext>
            </a:extLst>
          </p:cNvPr>
          <p:cNvSpPr>
            <a:spLocks noGrp="1"/>
          </p:cNvSpPr>
          <p:nvPr/>
        </p:nvSpPr>
        <p:spPr>
          <a:xfrm>
            <a:off x="8305800" y="5324475"/>
            <a:ext cx="2152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ED7D31"/>
                </a:solidFill>
              </a:defRPr>
            </a:pPr>
            <a:r>
              <a:rPr sz="2025" b="1">
                <a:solidFill>
                  <a:srgbClr val="ED7D31"/>
                </a:solidFill>
              </a:rPr>
              <a:t>SQLite</a:t>
            </a:r>
          </a:p>
        </p:txBody>
      </p:sp>
      <p:sp>
        <p:nvSpPr>
          <p:cNvPr id="944" name="矩形 943">
            <a:extLst>
              <a:ext uri="{FF2B5EF4-FFF2-40B4-BE49-F238E27FC236}">
                <a16:creationId xmlns:a16="http://schemas.microsoft.com/office/drawing/2014/main" id="{E7B228DF-6957-04EB-2085-D8A50A2E1801}"/>
              </a:ext>
            </a:extLst>
          </p:cNvPr>
          <p:cNvSpPr>
            <a:spLocks noGrp="1"/>
          </p:cNvSpPr>
          <p:nvPr/>
        </p:nvSpPr>
        <p:spPr>
          <a:xfrm>
            <a:off x="8305800" y="5705475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5B6575"/>
                </a:solidFill>
              </a:defRPr>
            </a:pPr>
            <a:r>
              <a:rPr sz="1600" b="0">
                <a:solidFill>
                  <a:srgbClr val="5B657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高并发受写锁影响</a:t>
            </a:r>
          </a:p>
        </p:txBody>
      </p:sp>
      <p:sp>
        <p:nvSpPr>
          <p:cNvPr id="930" name="文本框 929">
            <a:extLst>
              <a:ext uri="{FF2B5EF4-FFF2-40B4-BE49-F238E27FC236}">
                <a16:creationId xmlns:a16="http://schemas.microsoft.com/office/drawing/2014/main" id="{F51D34DC-80C7-E20E-8C3D-633D3B9791DE}"/>
              </a:ext>
            </a:extLst>
          </p:cNvPr>
          <p:cNvSpPr>
            <a:spLocks noGrp="1"/>
          </p:cNvSpPr>
          <p:nvPr/>
        </p:nvSpPr>
        <p:spPr>
          <a:xfrm>
            <a:off x="9305925" y="90428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 err="1">
                <a:solidFill>
                  <a:srgbClr val="001942"/>
                </a:solidFill>
                <a:latin typeface="黑体"/>
                <a:ea typeface="黑体"/>
                <a:cs typeface="黑体"/>
              </a:rPr>
              <a:t>测试结果</a:t>
            </a:r>
            <a:endParaRPr sz="2000" dirty="0">
              <a:solidFill>
                <a:srgbClr val="001942"/>
              </a:solidFill>
              <a:latin typeface="黑体"/>
              <a:ea typeface="黑体"/>
              <a:cs typeface="黑体"/>
            </a:endParaRPr>
          </a:p>
        </p:txBody>
      </p:sp>
    </p:spTree>
    <p:extLst>
      <p:ext uri="{BB962C8B-B14F-4D97-AF65-F5344CB8AC3E}">
        <p14:creationId xmlns:p14="http://schemas.microsoft.com/office/powerpoint/2010/main" val="4127103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532;p36">
            <a:extLst>
              <a:ext uri="{FF2B5EF4-FFF2-40B4-BE49-F238E27FC236}">
                <a16:creationId xmlns:a16="http://schemas.microsoft.com/office/drawing/2014/main" id="{6F98E871-560E-357B-4395-0415C970FF3F}"/>
              </a:ext>
            </a:extLst>
          </p:cNvPr>
          <p:cNvSpPr>
            <a:spLocks noGrp="1"/>
          </p:cNvSpPr>
          <p:nvPr/>
        </p:nvSpPr>
        <p:spPr>
          <a:xfrm>
            <a:off x="542926" y="485775"/>
            <a:ext cx="87630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9pPr>
          </a:lstStyle>
          <a:p>
            <a:pPr>
              <a:defRPr sz="2025" b="1">
                <a:solidFill>
                  <a:srgbClr val="17233C"/>
                </a:solidFill>
              </a:defRPr>
            </a:pPr>
            <a:r>
              <a:rPr sz="2400" b="0" dirty="0" err="1">
                <a:solidFill>
                  <a:srgbClr val="17233C"/>
                </a:solidFill>
                <a:latin typeface="楷体"/>
                <a:ea typeface="楷体"/>
                <a:cs typeface="楷体"/>
              </a:rPr>
              <a:t>端到端认证时延分析</a:t>
            </a:r>
            <a:endParaRPr sz="2400" b="0" dirty="0">
              <a:solidFill>
                <a:srgbClr val="17233C"/>
              </a:solidFill>
              <a:latin typeface="楷体"/>
              <a:ea typeface="楷体"/>
              <a:cs typeface="楷体"/>
            </a:endParaRPr>
          </a:p>
        </p:txBody>
      </p:sp>
      <p:sp>
        <p:nvSpPr>
          <p:cNvPr id="933" name="Google Shape;1593;p77">
            <a:extLst>
              <a:ext uri="{FF2B5EF4-FFF2-40B4-BE49-F238E27FC236}">
                <a16:creationId xmlns:a16="http://schemas.microsoft.com/office/drawing/2014/main" id="{45D427E6-2C03-8BC4-C3FE-7FA583FB8F8E}"/>
              </a:ext>
            </a:extLst>
          </p:cNvPr>
          <p:cNvSpPr>
            <a:spLocks noGrp="1"/>
          </p:cNvSpPr>
          <p:nvPr/>
        </p:nvSpPr>
        <p:spPr>
          <a:xfrm>
            <a:off x="118216" y="603104"/>
            <a:ext cx="424710" cy="355891"/>
          </a:xfrm>
          <a:custGeom>
            <a:avLst/>
            <a:gdLst/>
            <a:ahLst/>
            <a:cxnLst/>
            <a:rect l="l" t="t" r="r" b="b"/>
            <a:pathLst>
              <a:path w="1956" h="2684">
                <a:moveTo>
                  <a:pt x="1" y="0"/>
                </a:moveTo>
                <a:lnTo>
                  <a:pt x="787" y="1342"/>
                </a:lnTo>
                <a:lnTo>
                  <a:pt x="1" y="2683"/>
                </a:lnTo>
                <a:lnTo>
                  <a:pt x="1955" y="1342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1000">
                <a:srgbClr val="FFFFFF"/>
              </a:gs>
              <a:gs pos="46000">
                <a:srgbClr val="869FC6"/>
              </a:gs>
              <a:gs pos="62000">
                <a:srgbClr val="29559A"/>
              </a:gs>
            </a:gsLst>
            <a:lin ang="2400000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958" name="Chart"/>
          <p:cNvGraphicFramePr/>
          <p:nvPr>
            <p:extLst>
              <p:ext uri="{D42A27DB-BD31-4B8C-83A1-F6EECF244321}">
                <p14:modId xmlns:p14="http://schemas.microsoft.com/office/powerpoint/2010/main" val="429483723"/>
              </p:ext>
            </p:extLst>
          </p:nvPr>
        </p:nvGraphicFramePr>
        <p:xfrm>
          <a:off x="542926" y="1428750"/>
          <a:ext cx="7524750" cy="42264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35" name="矩形: 圆角 934">
            <a:extLst>
              <a:ext uri="{FF2B5EF4-FFF2-40B4-BE49-F238E27FC236}">
                <a16:creationId xmlns:a16="http://schemas.microsoft.com/office/drawing/2014/main" id="{79D24A0E-9D88-4A4A-A157-44463D15CC52}"/>
              </a:ext>
            </a:extLst>
          </p:cNvPr>
          <p:cNvSpPr>
            <a:spLocks noGrp="1"/>
          </p:cNvSpPr>
          <p:nvPr/>
        </p:nvSpPr>
        <p:spPr>
          <a:xfrm>
            <a:off x="8572500" y="1428750"/>
            <a:ext cx="266700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CDD8E7"/>
            </a:solidFill>
            <a:prstDash val="solid"/>
          </a:ln>
        </p:spPr>
      </p:sp>
      <p:sp>
        <p:nvSpPr>
          <p:cNvPr id="936" name="矩形 935">
            <a:extLst>
              <a:ext uri="{FF2B5EF4-FFF2-40B4-BE49-F238E27FC236}">
                <a16:creationId xmlns:a16="http://schemas.microsoft.com/office/drawing/2014/main" id="{1389C691-E0E1-40E0-89BA-591F690D9BE3}"/>
              </a:ext>
            </a:extLst>
          </p:cNvPr>
          <p:cNvSpPr>
            <a:spLocks noGrp="1"/>
          </p:cNvSpPr>
          <p:nvPr/>
        </p:nvSpPr>
        <p:spPr>
          <a:xfrm>
            <a:off x="8686800" y="1466850"/>
            <a:ext cx="2438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29559A"/>
                </a:solidFill>
              </a:defRPr>
            </a:pPr>
            <a:r>
              <a:rPr sz="2025" b="1" dirty="0">
                <a:solidFill>
                  <a:srgbClr val="29559A"/>
                </a:solidFill>
              </a:rPr>
              <a:t>12.98 s</a:t>
            </a:r>
          </a:p>
        </p:txBody>
      </p:sp>
      <p:sp>
        <p:nvSpPr>
          <p:cNvPr id="937" name="矩形 936">
            <a:extLst>
              <a:ext uri="{FF2B5EF4-FFF2-40B4-BE49-F238E27FC236}">
                <a16:creationId xmlns:a16="http://schemas.microsoft.com/office/drawing/2014/main" id="{335EDACB-EB01-4A41-8D38-BB6618552A03}"/>
              </a:ext>
            </a:extLst>
          </p:cNvPr>
          <p:cNvSpPr>
            <a:spLocks noGrp="1"/>
          </p:cNvSpPr>
          <p:nvPr/>
        </p:nvSpPr>
        <p:spPr>
          <a:xfrm>
            <a:off x="8710154" y="1881187"/>
            <a:ext cx="2438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5B6575"/>
                </a:solidFill>
              </a:defRPr>
            </a:pPr>
            <a:r>
              <a:rPr sz="1600" b="0" dirty="0">
                <a:solidFill>
                  <a:srgbClr val="5B657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30次平均总耗时</a:t>
            </a:r>
          </a:p>
        </p:txBody>
      </p:sp>
      <p:sp>
        <p:nvSpPr>
          <p:cNvPr id="938" name="矩形: 圆角 937">
            <a:extLst>
              <a:ext uri="{FF2B5EF4-FFF2-40B4-BE49-F238E27FC236}">
                <a16:creationId xmlns:a16="http://schemas.microsoft.com/office/drawing/2014/main" id="{E7561BB4-DFF4-4063-96D9-F488EBF873ED}"/>
              </a:ext>
            </a:extLst>
          </p:cNvPr>
          <p:cNvSpPr>
            <a:spLocks noGrp="1"/>
          </p:cNvSpPr>
          <p:nvPr/>
        </p:nvSpPr>
        <p:spPr>
          <a:xfrm>
            <a:off x="8572500" y="2521927"/>
            <a:ext cx="266700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CDD8E7"/>
            </a:solidFill>
            <a:prstDash val="solid"/>
          </a:ln>
        </p:spPr>
      </p:sp>
      <p:sp>
        <p:nvSpPr>
          <p:cNvPr id="939" name="矩形 938">
            <a:extLst>
              <a:ext uri="{FF2B5EF4-FFF2-40B4-BE49-F238E27FC236}">
                <a16:creationId xmlns:a16="http://schemas.microsoft.com/office/drawing/2014/main" id="{65297053-7E6F-4CF0-84F6-450166B7902E}"/>
              </a:ext>
            </a:extLst>
          </p:cNvPr>
          <p:cNvSpPr>
            <a:spLocks noGrp="1"/>
          </p:cNvSpPr>
          <p:nvPr/>
        </p:nvSpPr>
        <p:spPr>
          <a:xfrm>
            <a:off x="8710154" y="2560320"/>
            <a:ext cx="2438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ED7D31"/>
                </a:solidFill>
              </a:defRPr>
            </a:pPr>
            <a:r>
              <a:rPr sz="2025" b="1" dirty="0">
                <a:solidFill>
                  <a:srgbClr val="ED7D31"/>
                </a:solidFill>
              </a:rPr>
              <a:t>4.53 s</a:t>
            </a:r>
          </a:p>
        </p:txBody>
      </p:sp>
      <p:sp>
        <p:nvSpPr>
          <p:cNvPr id="940" name="矩形 939">
            <a:extLst>
              <a:ext uri="{FF2B5EF4-FFF2-40B4-BE49-F238E27FC236}">
                <a16:creationId xmlns:a16="http://schemas.microsoft.com/office/drawing/2014/main" id="{B6119D23-D9CA-4685-9710-924012D60912}"/>
              </a:ext>
            </a:extLst>
          </p:cNvPr>
          <p:cNvSpPr>
            <a:spLocks noGrp="1"/>
          </p:cNvSpPr>
          <p:nvPr/>
        </p:nvSpPr>
        <p:spPr>
          <a:xfrm>
            <a:off x="8746681" y="2956560"/>
            <a:ext cx="2438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5B6575"/>
                </a:solidFill>
              </a:defRPr>
            </a:pPr>
            <a:r>
              <a:rPr sz="1600" b="0" dirty="0" err="1">
                <a:solidFill>
                  <a:srgbClr val="5B657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open_request平均耗时</a:t>
            </a:r>
            <a:endParaRPr sz="1600" b="0" dirty="0">
              <a:solidFill>
                <a:srgbClr val="5B657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41" name="矩形: 圆角 940">
            <a:extLst>
              <a:ext uri="{FF2B5EF4-FFF2-40B4-BE49-F238E27FC236}">
                <a16:creationId xmlns:a16="http://schemas.microsoft.com/office/drawing/2014/main" id="{F7688594-1E77-4EA2-8385-831483F8F0C4}"/>
              </a:ext>
            </a:extLst>
          </p:cNvPr>
          <p:cNvSpPr>
            <a:spLocks noGrp="1"/>
          </p:cNvSpPr>
          <p:nvPr/>
        </p:nvSpPr>
        <p:spPr>
          <a:xfrm>
            <a:off x="8572500" y="3743325"/>
            <a:ext cx="266700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CDD8E7"/>
            </a:solidFill>
            <a:prstDash val="solid"/>
          </a:ln>
        </p:spPr>
      </p:sp>
      <p:sp>
        <p:nvSpPr>
          <p:cNvPr id="942" name="矩形 941">
            <a:extLst>
              <a:ext uri="{FF2B5EF4-FFF2-40B4-BE49-F238E27FC236}">
                <a16:creationId xmlns:a16="http://schemas.microsoft.com/office/drawing/2014/main" id="{F25E4034-7126-44B0-A5C7-D9127562D547}"/>
              </a:ext>
            </a:extLst>
          </p:cNvPr>
          <p:cNvSpPr>
            <a:spLocks noGrp="1"/>
          </p:cNvSpPr>
          <p:nvPr/>
        </p:nvSpPr>
        <p:spPr>
          <a:xfrm>
            <a:off x="8686800" y="3848100"/>
            <a:ext cx="2438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C84C4C"/>
                </a:solidFill>
              </a:defRPr>
            </a:pPr>
            <a:r>
              <a:rPr sz="2025" b="1">
                <a:solidFill>
                  <a:srgbClr val="C84C4C"/>
                </a:solidFill>
              </a:rPr>
              <a:t>&gt; 35%</a:t>
            </a:r>
          </a:p>
        </p:txBody>
      </p:sp>
      <p:sp>
        <p:nvSpPr>
          <p:cNvPr id="943" name="矩形 942">
            <a:extLst>
              <a:ext uri="{FF2B5EF4-FFF2-40B4-BE49-F238E27FC236}">
                <a16:creationId xmlns:a16="http://schemas.microsoft.com/office/drawing/2014/main" id="{9C275720-E959-4845-B845-8B3B180A2C61}"/>
              </a:ext>
            </a:extLst>
          </p:cNvPr>
          <p:cNvSpPr>
            <a:spLocks noGrp="1"/>
          </p:cNvSpPr>
          <p:nvPr/>
        </p:nvSpPr>
        <p:spPr>
          <a:xfrm>
            <a:off x="8686800" y="4200525"/>
            <a:ext cx="2438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5B6575"/>
                </a:solidFill>
              </a:defRPr>
            </a:pPr>
            <a:r>
              <a:rPr sz="1600" b="0" dirty="0" err="1">
                <a:solidFill>
                  <a:srgbClr val="5B657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该阶段占总耗时</a:t>
            </a:r>
            <a:endParaRPr sz="1600" b="0" dirty="0">
              <a:solidFill>
                <a:srgbClr val="5B657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44" name="矩形: 圆角 943">
            <a:extLst>
              <a:ext uri="{FF2B5EF4-FFF2-40B4-BE49-F238E27FC236}">
                <a16:creationId xmlns:a16="http://schemas.microsoft.com/office/drawing/2014/main" id="{E3C8CC9C-6F1B-4151-82BF-F28459ECFF5C}"/>
              </a:ext>
            </a:extLst>
          </p:cNvPr>
          <p:cNvSpPr>
            <a:spLocks noGrp="1"/>
          </p:cNvSpPr>
          <p:nvPr/>
        </p:nvSpPr>
        <p:spPr>
          <a:xfrm>
            <a:off x="8572500" y="4933950"/>
            <a:ext cx="2667000" cy="1095375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CDD8E7"/>
            </a:solidFill>
            <a:prstDash val="solid"/>
          </a:ln>
        </p:spPr>
      </p:sp>
      <p:sp>
        <p:nvSpPr>
          <p:cNvPr id="945" name="矩形 944">
            <a:extLst>
              <a:ext uri="{FF2B5EF4-FFF2-40B4-BE49-F238E27FC236}">
                <a16:creationId xmlns:a16="http://schemas.microsoft.com/office/drawing/2014/main" id="{D8310F08-4D20-4B5F-9B0A-85F804B9E5D2}"/>
              </a:ext>
            </a:extLst>
          </p:cNvPr>
          <p:cNvSpPr>
            <a:spLocks noGrp="1"/>
          </p:cNvSpPr>
          <p:nvPr/>
        </p:nvSpPr>
        <p:spPr>
          <a:xfrm>
            <a:off x="8572500" y="4933950"/>
            <a:ext cx="66675" cy="1095375"/>
          </a:xfrm>
          <a:prstGeom prst="rect">
            <a:avLst/>
          </a:prstGeom>
          <a:solidFill>
            <a:srgbClr val="29559A"/>
          </a:solidFill>
          <a:ln w="0">
            <a:solidFill>
              <a:srgbClr val="29559A"/>
            </a:solidFill>
            <a:prstDash val="solid"/>
          </a:ln>
        </p:spPr>
      </p:sp>
      <p:sp>
        <p:nvSpPr>
          <p:cNvPr id="946" name="矩形 945">
            <a:extLst>
              <a:ext uri="{FF2B5EF4-FFF2-40B4-BE49-F238E27FC236}">
                <a16:creationId xmlns:a16="http://schemas.microsoft.com/office/drawing/2014/main" id="{62D0BCE2-33D8-4DCF-B3E3-0699BE1FB0EF}"/>
              </a:ext>
            </a:extLst>
          </p:cNvPr>
          <p:cNvSpPr>
            <a:spLocks noGrp="1"/>
          </p:cNvSpPr>
          <p:nvPr/>
        </p:nvSpPr>
        <p:spPr>
          <a:xfrm>
            <a:off x="8710154" y="4914900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233C"/>
                </a:solidFill>
              </a:defRPr>
            </a:pPr>
            <a:r>
              <a:rPr sz="1650" b="1" dirty="0" err="1">
                <a:solidFill>
                  <a:srgbClr val="17233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优化方向</a:t>
            </a:r>
            <a:endParaRPr sz="1650" b="1" dirty="0">
              <a:solidFill>
                <a:srgbClr val="17233C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47" name="矩形 946">
            <a:extLst>
              <a:ext uri="{FF2B5EF4-FFF2-40B4-BE49-F238E27FC236}">
                <a16:creationId xmlns:a16="http://schemas.microsoft.com/office/drawing/2014/main" id="{1088592A-9780-4E22-B1A9-1DA0C4955285}"/>
              </a:ext>
            </a:extLst>
          </p:cNvPr>
          <p:cNvSpPr>
            <a:spLocks noGrp="1"/>
          </p:cNvSpPr>
          <p:nvPr/>
        </p:nvSpPr>
        <p:spPr>
          <a:xfrm>
            <a:off x="8710154" y="5181600"/>
            <a:ext cx="2593731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B6575"/>
                </a:solidFill>
              </a:defRPr>
            </a:pPr>
            <a:r>
              <a:rPr sz="1600" b="0" dirty="0" err="1">
                <a:solidFill>
                  <a:srgbClr val="5B657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减少会话写入次数</a:t>
            </a:r>
            <a:endParaRPr sz="1600" b="0" dirty="0">
              <a:solidFill>
                <a:srgbClr val="5B657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>
              <a:defRPr sz="1200" b="0">
                <a:solidFill>
                  <a:srgbClr val="5B6575"/>
                </a:solidFill>
              </a:defRPr>
            </a:pPr>
            <a:r>
              <a:rPr sz="1600" b="0" dirty="0" err="1">
                <a:solidFill>
                  <a:srgbClr val="5B657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异步化挑战派发</a:t>
            </a:r>
            <a:endParaRPr sz="1600" b="0" dirty="0">
              <a:solidFill>
                <a:srgbClr val="5B657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>
              <a:defRPr sz="1200" b="0">
                <a:solidFill>
                  <a:srgbClr val="5B6575"/>
                </a:solidFill>
              </a:defRPr>
            </a:pPr>
            <a:r>
              <a:rPr sz="1600" b="0" dirty="0" err="1">
                <a:solidFill>
                  <a:srgbClr val="5B657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迁移</a:t>
            </a:r>
            <a:r>
              <a:rPr sz="1600" b="0" dirty="0">
                <a:solidFill>
                  <a:srgbClr val="5B657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MySQL / PostgreSQL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F206BDF-1559-C2F2-43C8-11A58FEAE3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3178" cy="510540"/>
          </a:xfrm>
          <a:prstGeom prst="rect">
            <a:avLst/>
          </a:prstGeom>
          <a:solidFill>
            <a:srgbClr val="2955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endParaRPr/>
          </a:p>
        </p:txBody>
      </p:sp>
      <p:sp>
        <p:nvSpPr>
          <p:cNvPr id="3" name="文本框 926">
            <a:extLst>
              <a:ext uri="{FF2B5EF4-FFF2-40B4-BE49-F238E27FC236}">
                <a16:creationId xmlns:a16="http://schemas.microsoft.com/office/drawing/2014/main" id="{B4C12BDD-67D4-4B90-A2DF-3CBEF474A073}"/>
              </a:ext>
            </a:extLst>
          </p:cNvPr>
          <p:cNvSpPr>
            <a:spLocks noGrp="1"/>
          </p:cNvSpPr>
          <p:nvPr/>
        </p:nvSpPr>
        <p:spPr>
          <a:xfrm>
            <a:off x="6298131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认证流程</a:t>
            </a:r>
          </a:p>
        </p:txBody>
      </p:sp>
      <p:sp>
        <p:nvSpPr>
          <p:cNvPr id="4" name="文本框 927">
            <a:extLst>
              <a:ext uri="{FF2B5EF4-FFF2-40B4-BE49-F238E27FC236}">
                <a16:creationId xmlns:a16="http://schemas.microsoft.com/office/drawing/2014/main" id="{75DF5E1B-A3C5-3D2B-632E-E9FAD5E3E94B}"/>
              </a:ext>
            </a:extLst>
          </p:cNvPr>
          <p:cNvSpPr>
            <a:spLocks noGrp="1"/>
          </p:cNvSpPr>
          <p:nvPr/>
        </p:nvSpPr>
        <p:spPr>
          <a:xfrm>
            <a:off x="4811216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系统架构</a:t>
            </a:r>
          </a:p>
        </p:txBody>
      </p:sp>
      <p:sp>
        <p:nvSpPr>
          <p:cNvPr id="5" name="文本框 928">
            <a:extLst>
              <a:ext uri="{FF2B5EF4-FFF2-40B4-BE49-F238E27FC236}">
                <a16:creationId xmlns:a16="http://schemas.microsoft.com/office/drawing/2014/main" id="{CB2BCDAE-A9CF-8A5D-DD26-0302E177E248}"/>
              </a:ext>
            </a:extLst>
          </p:cNvPr>
          <p:cNvSpPr>
            <a:spLocks noGrp="1"/>
          </p:cNvSpPr>
          <p:nvPr/>
        </p:nvSpPr>
        <p:spPr>
          <a:xfrm>
            <a:off x="7798009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核心技术</a:t>
            </a:r>
          </a:p>
        </p:txBody>
      </p:sp>
      <p:sp>
        <p:nvSpPr>
          <p:cNvPr id="6" name="文本框 930">
            <a:extLst>
              <a:ext uri="{FF2B5EF4-FFF2-40B4-BE49-F238E27FC236}">
                <a16:creationId xmlns:a16="http://schemas.microsoft.com/office/drawing/2014/main" id="{2BC8ADA3-2E93-CE86-94FC-67DD6565085E}"/>
              </a:ext>
            </a:extLst>
          </p:cNvPr>
          <p:cNvSpPr>
            <a:spLocks noGrp="1"/>
          </p:cNvSpPr>
          <p:nvPr/>
        </p:nvSpPr>
        <p:spPr>
          <a:xfrm>
            <a:off x="10797765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总结展望</a:t>
            </a:r>
          </a:p>
        </p:txBody>
      </p:sp>
      <p:sp>
        <p:nvSpPr>
          <p:cNvPr id="7" name="Google Shape;1606;p77">
            <a:extLst>
              <a:ext uri="{FF2B5EF4-FFF2-40B4-BE49-F238E27FC236}">
                <a16:creationId xmlns:a16="http://schemas.microsoft.com/office/drawing/2014/main" id="{DAB435B3-4DA6-C35E-2BBB-8528D6A98D3C}"/>
              </a:ext>
            </a:extLst>
          </p:cNvPr>
          <p:cNvSpPr>
            <a:spLocks noGrp="1"/>
          </p:cNvSpPr>
          <p:nvPr/>
        </p:nvSpPr>
        <p:spPr>
          <a:xfrm>
            <a:off x="9305925" y="0"/>
            <a:ext cx="1439124" cy="510540"/>
          </a:xfrm>
          <a:custGeom>
            <a:avLst/>
            <a:gdLst/>
            <a:ahLst/>
            <a:cxnLst/>
            <a:rect l="l" t="t" r="r" b="b"/>
            <a:pathLst>
              <a:path w="9235" h="10000">
                <a:moveTo>
                  <a:pt x="0" y="0"/>
                </a:moveTo>
                <a:lnTo>
                  <a:pt x="0" y="10000"/>
                </a:lnTo>
                <a:lnTo>
                  <a:pt x="6992" y="10000"/>
                </a:lnTo>
                <a:lnTo>
                  <a:pt x="9235" y="4853"/>
                </a:lnTo>
                <a:lnTo>
                  <a:pt x="699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文本框 923">
            <a:extLst>
              <a:ext uri="{FF2B5EF4-FFF2-40B4-BE49-F238E27FC236}">
                <a16:creationId xmlns:a16="http://schemas.microsoft.com/office/drawing/2014/main" id="{E688A2F4-9EFC-FD89-CD0E-7A043EEB9E4D}"/>
              </a:ext>
            </a:extLst>
          </p:cNvPr>
          <p:cNvSpPr>
            <a:spLocks noGrp="1"/>
          </p:cNvSpPr>
          <p:nvPr/>
        </p:nvSpPr>
        <p:spPr>
          <a:xfrm>
            <a:off x="3285408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000" dirty="0" err="1">
                <a:solidFill>
                  <a:schemeClr val="bg1"/>
                </a:solidFill>
                <a:latin typeface="黑体"/>
                <a:ea typeface="黑体"/>
                <a:cs typeface="黑体"/>
              </a:rPr>
              <a:t>项目背景</a:t>
            </a:r>
            <a:endParaRPr sz="2000" dirty="0">
              <a:solidFill>
                <a:schemeClr val="bg1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9" name="文本框 929">
            <a:extLst>
              <a:ext uri="{FF2B5EF4-FFF2-40B4-BE49-F238E27FC236}">
                <a16:creationId xmlns:a16="http://schemas.microsoft.com/office/drawing/2014/main" id="{3D13CED5-2D49-616D-4796-211D41A62A5B}"/>
              </a:ext>
            </a:extLst>
          </p:cNvPr>
          <p:cNvSpPr>
            <a:spLocks noGrp="1"/>
          </p:cNvSpPr>
          <p:nvPr/>
        </p:nvSpPr>
        <p:spPr>
          <a:xfrm>
            <a:off x="9305925" y="90428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000" dirty="0" err="1">
                <a:solidFill>
                  <a:srgbClr val="001942"/>
                </a:solidFill>
                <a:latin typeface="黑体"/>
                <a:ea typeface="黑体"/>
                <a:cs typeface="黑体"/>
              </a:rPr>
              <a:t>测试结果</a:t>
            </a:r>
            <a:endParaRPr sz="2000" dirty="0">
              <a:solidFill>
                <a:srgbClr val="001942"/>
              </a:solidFill>
              <a:latin typeface="黑体"/>
              <a:ea typeface="黑体"/>
              <a:cs typeface="黑体"/>
            </a:endParaRPr>
          </a:p>
        </p:txBody>
      </p:sp>
    </p:spTree>
    <p:extLst>
      <p:ext uri="{BB962C8B-B14F-4D97-AF65-F5344CB8AC3E}">
        <p14:creationId xmlns:p14="http://schemas.microsoft.com/office/powerpoint/2010/main" val="610279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532;p36">
            <a:extLst>
              <a:ext uri="{FF2B5EF4-FFF2-40B4-BE49-F238E27FC236}">
                <a16:creationId xmlns:a16="http://schemas.microsoft.com/office/drawing/2014/main" id="{6F98E871-560E-357B-4395-0415C970FF3F}"/>
              </a:ext>
            </a:extLst>
          </p:cNvPr>
          <p:cNvSpPr>
            <a:spLocks noGrp="1"/>
          </p:cNvSpPr>
          <p:nvPr/>
        </p:nvSpPr>
        <p:spPr>
          <a:xfrm>
            <a:off x="541747" y="509588"/>
            <a:ext cx="87630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9pPr>
          </a:lstStyle>
          <a:p>
            <a:pPr>
              <a:defRPr sz="2025" b="1">
                <a:solidFill>
                  <a:srgbClr val="17233C"/>
                </a:solidFill>
              </a:defRPr>
            </a:pPr>
            <a:r>
              <a:rPr sz="2400" b="0" dirty="0" err="1">
                <a:solidFill>
                  <a:srgbClr val="17233C"/>
                </a:solidFill>
                <a:latin typeface="楷体"/>
                <a:ea typeface="楷体"/>
                <a:cs typeface="楷体"/>
              </a:rPr>
              <a:t>人脸准确率与安全用例验证</a:t>
            </a:r>
            <a:endParaRPr sz="2400" b="0" dirty="0">
              <a:solidFill>
                <a:srgbClr val="17233C"/>
              </a:solidFill>
              <a:latin typeface="楷体"/>
              <a:ea typeface="楷体"/>
              <a:cs typeface="楷体"/>
            </a:endParaRPr>
          </a:p>
        </p:txBody>
      </p:sp>
      <p:sp>
        <p:nvSpPr>
          <p:cNvPr id="933" name="Google Shape;1593;p77">
            <a:extLst>
              <a:ext uri="{FF2B5EF4-FFF2-40B4-BE49-F238E27FC236}">
                <a16:creationId xmlns:a16="http://schemas.microsoft.com/office/drawing/2014/main" id="{45D427E6-2C03-8BC4-C3FE-7FA583FB8F8E}"/>
              </a:ext>
            </a:extLst>
          </p:cNvPr>
          <p:cNvSpPr>
            <a:spLocks noGrp="1"/>
          </p:cNvSpPr>
          <p:nvPr/>
        </p:nvSpPr>
        <p:spPr>
          <a:xfrm>
            <a:off x="122803" y="619920"/>
            <a:ext cx="424710" cy="355891"/>
          </a:xfrm>
          <a:custGeom>
            <a:avLst/>
            <a:gdLst/>
            <a:ahLst/>
            <a:cxnLst/>
            <a:rect l="l" t="t" r="r" b="b"/>
            <a:pathLst>
              <a:path w="1956" h="2684">
                <a:moveTo>
                  <a:pt x="1" y="0"/>
                </a:moveTo>
                <a:lnTo>
                  <a:pt x="787" y="1342"/>
                </a:lnTo>
                <a:lnTo>
                  <a:pt x="1" y="2683"/>
                </a:lnTo>
                <a:lnTo>
                  <a:pt x="1955" y="1342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1000">
                <a:srgbClr val="FFFFFF"/>
              </a:gs>
              <a:gs pos="46000">
                <a:srgbClr val="869FC6"/>
              </a:gs>
              <a:gs pos="62000">
                <a:srgbClr val="29559A"/>
              </a:gs>
            </a:gsLst>
            <a:lin ang="2400000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958" name="Chart"/>
          <p:cNvGraphicFramePr/>
          <p:nvPr>
            <p:extLst>
              <p:ext uri="{D42A27DB-BD31-4B8C-83A1-F6EECF244321}">
                <p14:modId xmlns:p14="http://schemas.microsoft.com/office/powerpoint/2010/main" val="2575212351"/>
              </p:ext>
            </p:extLst>
          </p:nvPr>
        </p:nvGraphicFramePr>
        <p:xfrm>
          <a:off x="542925" y="1343025"/>
          <a:ext cx="5905500" cy="3857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59" name="表格 958"/>
          <p:cNvGraphicFramePr/>
          <p:nvPr>
            <p:extLst>
              <p:ext uri="{D42A27DB-BD31-4B8C-83A1-F6EECF244321}">
                <p14:modId xmlns:p14="http://schemas.microsoft.com/office/powerpoint/2010/main" val="1674698374"/>
              </p:ext>
            </p:extLst>
          </p:nvPr>
        </p:nvGraphicFramePr>
        <p:xfrm>
          <a:off x="6743700" y="1362075"/>
          <a:ext cx="4905376" cy="3857625"/>
        </p:xfrm>
        <a:graphic>
          <a:graphicData uri="http://schemas.openxmlformats.org/drawingml/2006/table">
            <a:tbl>
              <a:tblPr firstRow="1" bandRow="1"/>
              <a:tblGrid>
                <a:gridCol w="1226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14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类别</a:t>
                      </a:r>
                    </a:p>
                  </a:txBody>
                  <a:tcPr>
                    <a:solidFill>
                      <a:srgbClr val="2955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dirty="0" err="1">
                          <a:solidFill>
                            <a:srgbClr val="FFFFFF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测试场景</a:t>
                      </a:r>
                      <a:endParaRPr sz="1600" b="1" dirty="0">
                        <a:solidFill>
                          <a:srgbClr val="FFFFFF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>
                    <a:solidFill>
                      <a:srgbClr val="2955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结果</a:t>
                      </a:r>
                    </a:p>
                  </a:txBody>
                  <a:tcPr>
                    <a:solidFill>
                      <a:srgbClr val="2955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7233C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认证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17233C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连续5次错误TOTP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7233C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通过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7233C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认证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 err="1">
                          <a:solidFill>
                            <a:srgbClr val="17233C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锁定后输入正确TOTP</a:t>
                      </a:r>
                      <a:endParaRPr sz="1600" dirty="0">
                        <a:solidFill>
                          <a:srgbClr val="17233C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7233C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通过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7233C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通信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7233C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篡改密文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7233C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通过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7233C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通信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 err="1">
                          <a:solidFill>
                            <a:srgbClr val="17233C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重放旧request_id</a:t>
                      </a:r>
                      <a:endParaRPr sz="1600" dirty="0">
                        <a:solidFill>
                          <a:srgbClr val="17233C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7233C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通过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7233C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权限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7233C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普通用户访问管理接口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7233C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通过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7233C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权限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7233C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跨用户解绑设备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7233C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通过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600" dirty="0" err="1">
                          <a:solidFill>
                            <a:srgbClr val="17233C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访客</a:t>
                      </a:r>
                      <a:endParaRPr sz="1600" dirty="0">
                        <a:solidFill>
                          <a:srgbClr val="17233C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7233C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数据库仅保存哈希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7233C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通过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7233C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访客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 err="1">
                          <a:solidFill>
                            <a:srgbClr val="17233C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超过max_uses再使用</a:t>
                      </a:r>
                      <a:endParaRPr sz="1600" dirty="0">
                        <a:solidFill>
                          <a:srgbClr val="17233C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 err="1">
                          <a:solidFill>
                            <a:srgbClr val="17233C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通过</a:t>
                      </a:r>
                      <a:endParaRPr sz="1600" dirty="0">
                        <a:solidFill>
                          <a:srgbClr val="17233C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36" name="矩形: 圆角 935">
            <a:extLst>
              <a:ext uri="{FF2B5EF4-FFF2-40B4-BE49-F238E27FC236}">
                <a16:creationId xmlns:a16="http://schemas.microsoft.com/office/drawing/2014/main" id="{1DE33BDB-8DBF-47F5-BCD0-CB6F66E6FA1F}"/>
              </a:ext>
            </a:extLst>
          </p:cNvPr>
          <p:cNvSpPr>
            <a:spLocks noGrp="1"/>
          </p:cNvSpPr>
          <p:nvPr/>
        </p:nvSpPr>
        <p:spPr>
          <a:xfrm>
            <a:off x="838200" y="5438775"/>
            <a:ext cx="16192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CDD8E7"/>
            </a:solidFill>
            <a:prstDash val="solid"/>
          </a:ln>
        </p:spPr>
      </p:sp>
      <p:sp>
        <p:nvSpPr>
          <p:cNvPr id="937" name="矩形 936">
            <a:extLst>
              <a:ext uri="{FF2B5EF4-FFF2-40B4-BE49-F238E27FC236}">
                <a16:creationId xmlns:a16="http://schemas.microsoft.com/office/drawing/2014/main" id="{0D13572A-8D26-4952-9107-5BA3225B01AD}"/>
              </a:ext>
            </a:extLst>
          </p:cNvPr>
          <p:cNvSpPr>
            <a:spLocks noGrp="1"/>
          </p:cNvSpPr>
          <p:nvPr/>
        </p:nvSpPr>
        <p:spPr>
          <a:xfrm>
            <a:off x="952500" y="5543550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29559A"/>
                </a:solidFill>
              </a:defRPr>
            </a:pPr>
            <a:r>
              <a:rPr sz="2025" b="1">
                <a:solidFill>
                  <a:srgbClr val="29559A"/>
                </a:solidFill>
              </a:rPr>
              <a:t>0.97</a:t>
            </a:r>
          </a:p>
        </p:txBody>
      </p:sp>
      <p:sp>
        <p:nvSpPr>
          <p:cNvPr id="938" name="矩形 937">
            <a:extLst>
              <a:ext uri="{FF2B5EF4-FFF2-40B4-BE49-F238E27FC236}">
                <a16:creationId xmlns:a16="http://schemas.microsoft.com/office/drawing/2014/main" id="{AD91B7EE-7192-4285-A59A-FC9EAF2C0F4A}"/>
              </a:ext>
            </a:extLst>
          </p:cNvPr>
          <p:cNvSpPr>
            <a:spLocks noGrp="1"/>
          </p:cNvSpPr>
          <p:nvPr/>
        </p:nvSpPr>
        <p:spPr>
          <a:xfrm>
            <a:off x="952500" y="5924550"/>
            <a:ext cx="1390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5B6575"/>
                </a:solidFill>
              </a:defRPr>
            </a:pPr>
            <a:r>
              <a:rPr sz="1600" b="0" dirty="0">
                <a:solidFill>
                  <a:srgbClr val="5B657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AUC</a:t>
            </a:r>
          </a:p>
        </p:txBody>
      </p:sp>
      <p:sp>
        <p:nvSpPr>
          <p:cNvPr id="939" name="矩形: 圆角 938">
            <a:extLst>
              <a:ext uri="{FF2B5EF4-FFF2-40B4-BE49-F238E27FC236}">
                <a16:creationId xmlns:a16="http://schemas.microsoft.com/office/drawing/2014/main" id="{87D83F39-9243-4EC1-B3D0-96028162392E}"/>
              </a:ext>
            </a:extLst>
          </p:cNvPr>
          <p:cNvSpPr>
            <a:spLocks noGrp="1"/>
          </p:cNvSpPr>
          <p:nvPr/>
        </p:nvSpPr>
        <p:spPr>
          <a:xfrm>
            <a:off x="2724150" y="5438775"/>
            <a:ext cx="16192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CDD8E7"/>
            </a:solidFill>
            <a:prstDash val="solid"/>
          </a:ln>
        </p:spPr>
      </p:sp>
      <p:sp>
        <p:nvSpPr>
          <p:cNvPr id="940" name="矩形 939">
            <a:extLst>
              <a:ext uri="{FF2B5EF4-FFF2-40B4-BE49-F238E27FC236}">
                <a16:creationId xmlns:a16="http://schemas.microsoft.com/office/drawing/2014/main" id="{F99C9E11-C203-4470-978F-8CA70579363F}"/>
              </a:ext>
            </a:extLst>
          </p:cNvPr>
          <p:cNvSpPr>
            <a:spLocks noGrp="1"/>
          </p:cNvSpPr>
          <p:nvPr/>
        </p:nvSpPr>
        <p:spPr>
          <a:xfrm>
            <a:off x="2838450" y="5543550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ED7D31"/>
                </a:solidFill>
              </a:defRPr>
            </a:pPr>
            <a:r>
              <a:rPr sz="2025" b="1">
                <a:solidFill>
                  <a:srgbClr val="ED7D31"/>
                </a:solidFill>
              </a:rPr>
              <a:t>≈0.05</a:t>
            </a:r>
          </a:p>
        </p:txBody>
      </p:sp>
      <p:sp>
        <p:nvSpPr>
          <p:cNvPr id="941" name="矩形 940">
            <a:extLst>
              <a:ext uri="{FF2B5EF4-FFF2-40B4-BE49-F238E27FC236}">
                <a16:creationId xmlns:a16="http://schemas.microsoft.com/office/drawing/2014/main" id="{D3AA5C99-8936-4455-865E-A5F1A432CB06}"/>
              </a:ext>
            </a:extLst>
          </p:cNvPr>
          <p:cNvSpPr>
            <a:spLocks noGrp="1"/>
          </p:cNvSpPr>
          <p:nvPr/>
        </p:nvSpPr>
        <p:spPr>
          <a:xfrm>
            <a:off x="2838450" y="5924550"/>
            <a:ext cx="1390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5B6575"/>
                </a:solidFill>
              </a:defRPr>
            </a:pPr>
            <a:r>
              <a:rPr sz="1600" b="0">
                <a:solidFill>
                  <a:srgbClr val="5B657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EER</a:t>
            </a:r>
          </a:p>
        </p:txBody>
      </p:sp>
      <p:sp>
        <p:nvSpPr>
          <p:cNvPr id="942" name="矩形: 圆角 941">
            <a:extLst>
              <a:ext uri="{FF2B5EF4-FFF2-40B4-BE49-F238E27FC236}">
                <a16:creationId xmlns:a16="http://schemas.microsoft.com/office/drawing/2014/main" id="{C3D22E21-69DB-44D9-A8FC-9D69E131A3AD}"/>
              </a:ext>
            </a:extLst>
          </p:cNvPr>
          <p:cNvSpPr>
            <a:spLocks noGrp="1"/>
          </p:cNvSpPr>
          <p:nvPr/>
        </p:nvSpPr>
        <p:spPr>
          <a:xfrm>
            <a:off x="4610100" y="5438775"/>
            <a:ext cx="16192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CDD8E7"/>
            </a:solidFill>
            <a:prstDash val="solid"/>
          </a:ln>
        </p:spPr>
      </p:sp>
      <p:sp>
        <p:nvSpPr>
          <p:cNvPr id="943" name="矩形 942">
            <a:extLst>
              <a:ext uri="{FF2B5EF4-FFF2-40B4-BE49-F238E27FC236}">
                <a16:creationId xmlns:a16="http://schemas.microsoft.com/office/drawing/2014/main" id="{79EC1D6F-C318-470A-BE44-84DFCC0B8220}"/>
              </a:ext>
            </a:extLst>
          </p:cNvPr>
          <p:cNvSpPr>
            <a:spLocks noGrp="1"/>
          </p:cNvSpPr>
          <p:nvPr/>
        </p:nvSpPr>
        <p:spPr>
          <a:xfrm>
            <a:off x="4724400" y="5543550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70AD47"/>
                </a:solidFill>
              </a:defRPr>
            </a:pPr>
            <a:r>
              <a:rPr sz="2025" b="1">
                <a:solidFill>
                  <a:srgbClr val="70AD47"/>
                </a:solidFill>
              </a:rPr>
              <a:t>≈0.93</a:t>
            </a:r>
          </a:p>
        </p:txBody>
      </p:sp>
      <p:sp>
        <p:nvSpPr>
          <p:cNvPr id="944" name="矩形 943">
            <a:extLst>
              <a:ext uri="{FF2B5EF4-FFF2-40B4-BE49-F238E27FC236}">
                <a16:creationId xmlns:a16="http://schemas.microsoft.com/office/drawing/2014/main" id="{F2F64B1E-873B-4DDA-8CD2-88E9A447B0D7}"/>
              </a:ext>
            </a:extLst>
          </p:cNvPr>
          <p:cNvSpPr>
            <a:spLocks noGrp="1"/>
          </p:cNvSpPr>
          <p:nvPr/>
        </p:nvSpPr>
        <p:spPr>
          <a:xfrm>
            <a:off x="4428253" y="5924550"/>
            <a:ext cx="1976511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5B6575"/>
                </a:solidFill>
              </a:defRPr>
            </a:pPr>
            <a:r>
              <a:rPr sz="1600" b="0" dirty="0">
                <a:solidFill>
                  <a:srgbClr val="5B657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阈值0.65时TAR</a:t>
            </a:r>
          </a:p>
        </p:txBody>
      </p:sp>
      <p:sp>
        <p:nvSpPr>
          <p:cNvPr id="945" name="矩形: 圆角 944">
            <a:extLst>
              <a:ext uri="{FF2B5EF4-FFF2-40B4-BE49-F238E27FC236}">
                <a16:creationId xmlns:a16="http://schemas.microsoft.com/office/drawing/2014/main" id="{7C4CF2EE-1C05-4B81-AB1A-07C0495C29E2}"/>
              </a:ext>
            </a:extLst>
          </p:cNvPr>
          <p:cNvSpPr>
            <a:spLocks noGrp="1"/>
          </p:cNvSpPr>
          <p:nvPr/>
        </p:nvSpPr>
        <p:spPr>
          <a:xfrm>
            <a:off x="7875578" y="5600699"/>
            <a:ext cx="2478244" cy="638175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CDD8E7"/>
            </a:solidFill>
            <a:prstDash val="solid"/>
          </a:ln>
        </p:spPr>
      </p:sp>
      <p:sp>
        <p:nvSpPr>
          <p:cNvPr id="946" name="矩形 945">
            <a:extLst>
              <a:ext uri="{FF2B5EF4-FFF2-40B4-BE49-F238E27FC236}">
                <a16:creationId xmlns:a16="http://schemas.microsoft.com/office/drawing/2014/main" id="{9931131A-75C4-4DB6-9087-0CA2A22D03EE}"/>
              </a:ext>
            </a:extLst>
          </p:cNvPr>
          <p:cNvSpPr>
            <a:spLocks noGrp="1"/>
          </p:cNvSpPr>
          <p:nvPr/>
        </p:nvSpPr>
        <p:spPr>
          <a:xfrm>
            <a:off x="7700164" y="5600700"/>
            <a:ext cx="2914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70AD47"/>
                </a:solidFill>
              </a:defRPr>
            </a:pPr>
            <a:r>
              <a:rPr sz="2800" b="1" dirty="0">
                <a:solidFill>
                  <a:srgbClr val="70AD47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 / 8 </a:t>
            </a:r>
            <a:r>
              <a:rPr sz="2800" b="1" dirty="0" err="1">
                <a:solidFill>
                  <a:srgbClr val="70AD47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通过</a:t>
            </a:r>
            <a:endParaRPr sz="2800" b="1" dirty="0">
              <a:solidFill>
                <a:srgbClr val="70AD47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F206BDF-1559-C2F2-43C8-11A58FEAE3EA}"/>
              </a:ext>
            </a:extLst>
          </p:cNvPr>
          <p:cNvSpPr>
            <a:spLocks noGrp="1"/>
          </p:cNvSpPr>
          <p:nvPr/>
        </p:nvSpPr>
        <p:spPr>
          <a:xfrm>
            <a:off x="-1178" y="4605"/>
            <a:ext cx="12193178" cy="510540"/>
          </a:xfrm>
          <a:prstGeom prst="rect">
            <a:avLst/>
          </a:prstGeom>
          <a:solidFill>
            <a:srgbClr val="2955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endParaRPr/>
          </a:p>
        </p:txBody>
      </p:sp>
      <p:sp>
        <p:nvSpPr>
          <p:cNvPr id="3" name="文本框 926">
            <a:extLst>
              <a:ext uri="{FF2B5EF4-FFF2-40B4-BE49-F238E27FC236}">
                <a16:creationId xmlns:a16="http://schemas.microsoft.com/office/drawing/2014/main" id="{B4C12BDD-67D4-4B90-A2DF-3CBEF474A073}"/>
              </a:ext>
            </a:extLst>
          </p:cNvPr>
          <p:cNvSpPr>
            <a:spLocks noGrp="1"/>
          </p:cNvSpPr>
          <p:nvPr/>
        </p:nvSpPr>
        <p:spPr>
          <a:xfrm>
            <a:off x="6296953" y="98520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认证流程</a:t>
            </a:r>
          </a:p>
        </p:txBody>
      </p:sp>
      <p:sp>
        <p:nvSpPr>
          <p:cNvPr id="4" name="文本框 927">
            <a:extLst>
              <a:ext uri="{FF2B5EF4-FFF2-40B4-BE49-F238E27FC236}">
                <a16:creationId xmlns:a16="http://schemas.microsoft.com/office/drawing/2014/main" id="{75DF5E1B-A3C5-3D2B-632E-E9FAD5E3E94B}"/>
              </a:ext>
            </a:extLst>
          </p:cNvPr>
          <p:cNvSpPr>
            <a:spLocks noGrp="1"/>
          </p:cNvSpPr>
          <p:nvPr/>
        </p:nvSpPr>
        <p:spPr>
          <a:xfrm>
            <a:off x="4810038" y="98520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系统架构</a:t>
            </a:r>
          </a:p>
        </p:txBody>
      </p:sp>
      <p:sp>
        <p:nvSpPr>
          <p:cNvPr id="5" name="文本框 928">
            <a:extLst>
              <a:ext uri="{FF2B5EF4-FFF2-40B4-BE49-F238E27FC236}">
                <a16:creationId xmlns:a16="http://schemas.microsoft.com/office/drawing/2014/main" id="{CB2BCDAE-A9CF-8A5D-DD26-0302E177E248}"/>
              </a:ext>
            </a:extLst>
          </p:cNvPr>
          <p:cNvSpPr>
            <a:spLocks noGrp="1"/>
          </p:cNvSpPr>
          <p:nvPr/>
        </p:nvSpPr>
        <p:spPr>
          <a:xfrm>
            <a:off x="7796831" y="98520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核心技术</a:t>
            </a:r>
          </a:p>
        </p:txBody>
      </p:sp>
      <p:sp>
        <p:nvSpPr>
          <p:cNvPr id="6" name="文本框 930">
            <a:extLst>
              <a:ext uri="{FF2B5EF4-FFF2-40B4-BE49-F238E27FC236}">
                <a16:creationId xmlns:a16="http://schemas.microsoft.com/office/drawing/2014/main" id="{2BC8ADA3-2E93-CE86-94FC-67DD6565085E}"/>
              </a:ext>
            </a:extLst>
          </p:cNvPr>
          <p:cNvSpPr>
            <a:spLocks noGrp="1"/>
          </p:cNvSpPr>
          <p:nvPr/>
        </p:nvSpPr>
        <p:spPr>
          <a:xfrm>
            <a:off x="10796587" y="98520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总结展望</a:t>
            </a:r>
          </a:p>
        </p:txBody>
      </p:sp>
      <p:sp>
        <p:nvSpPr>
          <p:cNvPr id="7" name="Google Shape;1606;p77">
            <a:extLst>
              <a:ext uri="{FF2B5EF4-FFF2-40B4-BE49-F238E27FC236}">
                <a16:creationId xmlns:a16="http://schemas.microsoft.com/office/drawing/2014/main" id="{DAB435B3-4DA6-C35E-2BBB-8528D6A98D3C}"/>
              </a:ext>
            </a:extLst>
          </p:cNvPr>
          <p:cNvSpPr>
            <a:spLocks noGrp="1"/>
          </p:cNvSpPr>
          <p:nvPr/>
        </p:nvSpPr>
        <p:spPr>
          <a:xfrm>
            <a:off x="9304747" y="4605"/>
            <a:ext cx="1439124" cy="510540"/>
          </a:xfrm>
          <a:custGeom>
            <a:avLst/>
            <a:gdLst/>
            <a:ahLst/>
            <a:cxnLst/>
            <a:rect l="l" t="t" r="r" b="b"/>
            <a:pathLst>
              <a:path w="9235" h="10000">
                <a:moveTo>
                  <a:pt x="0" y="0"/>
                </a:moveTo>
                <a:lnTo>
                  <a:pt x="0" y="10000"/>
                </a:lnTo>
                <a:lnTo>
                  <a:pt x="6992" y="10000"/>
                </a:lnTo>
                <a:lnTo>
                  <a:pt x="9235" y="4853"/>
                </a:lnTo>
                <a:lnTo>
                  <a:pt x="699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文本框 923">
            <a:extLst>
              <a:ext uri="{FF2B5EF4-FFF2-40B4-BE49-F238E27FC236}">
                <a16:creationId xmlns:a16="http://schemas.microsoft.com/office/drawing/2014/main" id="{E688A2F4-9EFC-FD89-CD0E-7A043EEB9E4D}"/>
              </a:ext>
            </a:extLst>
          </p:cNvPr>
          <p:cNvSpPr>
            <a:spLocks noGrp="1"/>
          </p:cNvSpPr>
          <p:nvPr/>
        </p:nvSpPr>
        <p:spPr>
          <a:xfrm>
            <a:off x="3284230" y="98520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000" dirty="0" err="1">
                <a:solidFill>
                  <a:schemeClr val="bg1"/>
                </a:solidFill>
                <a:latin typeface="黑体"/>
                <a:ea typeface="黑体"/>
                <a:cs typeface="黑体"/>
              </a:rPr>
              <a:t>项目背景</a:t>
            </a:r>
            <a:endParaRPr sz="2000" dirty="0">
              <a:solidFill>
                <a:schemeClr val="bg1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9" name="文本框 929">
            <a:extLst>
              <a:ext uri="{FF2B5EF4-FFF2-40B4-BE49-F238E27FC236}">
                <a16:creationId xmlns:a16="http://schemas.microsoft.com/office/drawing/2014/main" id="{3D13CED5-2D49-616D-4796-211D41A62A5B}"/>
              </a:ext>
            </a:extLst>
          </p:cNvPr>
          <p:cNvSpPr>
            <a:spLocks noGrp="1"/>
          </p:cNvSpPr>
          <p:nvPr/>
        </p:nvSpPr>
        <p:spPr>
          <a:xfrm>
            <a:off x="9304747" y="95033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000" dirty="0" err="1">
                <a:solidFill>
                  <a:srgbClr val="001942"/>
                </a:solidFill>
                <a:latin typeface="黑体"/>
                <a:ea typeface="黑体"/>
                <a:cs typeface="黑体"/>
              </a:rPr>
              <a:t>测试结果</a:t>
            </a:r>
            <a:endParaRPr sz="2000" dirty="0">
              <a:solidFill>
                <a:srgbClr val="001942"/>
              </a:solidFill>
              <a:latin typeface="黑体"/>
              <a:ea typeface="黑体"/>
              <a:cs typeface="黑体"/>
            </a:endParaRPr>
          </a:p>
        </p:txBody>
      </p:sp>
    </p:spTree>
    <p:extLst>
      <p:ext uri="{BB962C8B-B14F-4D97-AF65-F5344CB8AC3E}">
        <p14:creationId xmlns:p14="http://schemas.microsoft.com/office/powerpoint/2010/main" val="610279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矩形 924">
            <a:extLst>
              <a:ext uri="{FF2B5EF4-FFF2-40B4-BE49-F238E27FC236}">
                <a16:creationId xmlns:a16="http://schemas.microsoft.com/office/drawing/2014/main" id="{EF206BDF-1559-C2F2-43C8-11A58FEAE3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3178" cy="510540"/>
          </a:xfrm>
          <a:prstGeom prst="rect">
            <a:avLst/>
          </a:prstGeom>
          <a:solidFill>
            <a:srgbClr val="2955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27" name="文本框 926">
            <a:extLst>
              <a:ext uri="{FF2B5EF4-FFF2-40B4-BE49-F238E27FC236}">
                <a16:creationId xmlns:a16="http://schemas.microsoft.com/office/drawing/2014/main" id="{B4C12BDD-67D4-4B90-A2DF-3CBEF474A073}"/>
              </a:ext>
            </a:extLst>
          </p:cNvPr>
          <p:cNvSpPr>
            <a:spLocks noGrp="1"/>
          </p:cNvSpPr>
          <p:nvPr/>
        </p:nvSpPr>
        <p:spPr>
          <a:xfrm>
            <a:off x="6298131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认证流程</a:t>
            </a:r>
          </a:p>
        </p:txBody>
      </p:sp>
      <p:sp>
        <p:nvSpPr>
          <p:cNvPr id="928" name="文本框 927">
            <a:extLst>
              <a:ext uri="{FF2B5EF4-FFF2-40B4-BE49-F238E27FC236}">
                <a16:creationId xmlns:a16="http://schemas.microsoft.com/office/drawing/2014/main" id="{75DF5E1B-A3C5-3D2B-632E-E9FAD5E3E94B}"/>
              </a:ext>
            </a:extLst>
          </p:cNvPr>
          <p:cNvSpPr>
            <a:spLocks noGrp="1"/>
          </p:cNvSpPr>
          <p:nvPr/>
        </p:nvSpPr>
        <p:spPr>
          <a:xfrm>
            <a:off x="4811216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系统架构</a:t>
            </a:r>
          </a:p>
        </p:txBody>
      </p:sp>
      <p:sp>
        <p:nvSpPr>
          <p:cNvPr id="929" name="文本框 928">
            <a:extLst>
              <a:ext uri="{FF2B5EF4-FFF2-40B4-BE49-F238E27FC236}">
                <a16:creationId xmlns:a16="http://schemas.microsoft.com/office/drawing/2014/main" id="{CB2BCDAE-A9CF-8A5D-DD26-0302E177E248}"/>
              </a:ext>
            </a:extLst>
          </p:cNvPr>
          <p:cNvSpPr>
            <a:spLocks noGrp="1"/>
          </p:cNvSpPr>
          <p:nvPr/>
        </p:nvSpPr>
        <p:spPr>
          <a:xfrm>
            <a:off x="7798009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核心技术</a:t>
            </a:r>
          </a:p>
        </p:txBody>
      </p:sp>
      <p:sp>
        <p:nvSpPr>
          <p:cNvPr id="930" name="文本框 929">
            <a:extLst>
              <a:ext uri="{FF2B5EF4-FFF2-40B4-BE49-F238E27FC236}">
                <a16:creationId xmlns:a16="http://schemas.microsoft.com/office/drawing/2014/main" id="{3D13CED5-2D49-616D-4796-211D41A62A5B}"/>
              </a:ext>
            </a:extLst>
          </p:cNvPr>
          <p:cNvSpPr>
            <a:spLocks noGrp="1"/>
          </p:cNvSpPr>
          <p:nvPr/>
        </p:nvSpPr>
        <p:spPr>
          <a:xfrm>
            <a:off x="9297887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测试结果</a:t>
            </a:r>
          </a:p>
        </p:txBody>
      </p:sp>
      <p:sp>
        <p:nvSpPr>
          <p:cNvPr id="923" name="Google Shape;1606;p77">
            <a:extLst>
              <a:ext uri="{FF2B5EF4-FFF2-40B4-BE49-F238E27FC236}">
                <a16:creationId xmlns:a16="http://schemas.microsoft.com/office/drawing/2014/main" id="{DAB435B3-4DA6-C35E-2BBB-8528D6A98D3C}"/>
              </a:ext>
            </a:extLst>
          </p:cNvPr>
          <p:cNvSpPr>
            <a:spLocks noGrp="1"/>
          </p:cNvSpPr>
          <p:nvPr/>
        </p:nvSpPr>
        <p:spPr>
          <a:xfrm>
            <a:off x="10752876" y="0"/>
            <a:ext cx="1439124" cy="510540"/>
          </a:xfrm>
          <a:custGeom>
            <a:avLst/>
            <a:gdLst/>
            <a:ahLst/>
            <a:cxnLst/>
            <a:rect l="l" t="t" r="r" b="b"/>
            <a:pathLst>
              <a:path w="9235" h="10000">
                <a:moveTo>
                  <a:pt x="0" y="0"/>
                </a:moveTo>
                <a:lnTo>
                  <a:pt x="0" y="10000"/>
                </a:lnTo>
                <a:lnTo>
                  <a:pt x="6992" y="10000"/>
                </a:lnTo>
                <a:lnTo>
                  <a:pt x="9235" y="4853"/>
                </a:lnTo>
                <a:lnTo>
                  <a:pt x="699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4" name="文本框 923">
            <a:extLst>
              <a:ext uri="{FF2B5EF4-FFF2-40B4-BE49-F238E27FC236}">
                <a16:creationId xmlns:a16="http://schemas.microsoft.com/office/drawing/2014/main" id="{E688A2F4-9EFC-FD89-CD0E-7A043EEB9E4D}"/>
              </a:ext>
            </a:extLst>
          </p:cNvPr>
          <p:cNvSpPr>
            <a:spLocks noGrp="1"/>
          </p:cNvSpPr>
          <p:nvPr/>
        </p:nvSpPr>
        <p:spPr>
          <a:xfrm>
            <a:off x="3285408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 err="1">
                <a:solidFill>
                  <a:schemeClr val="bg1"/>
                </a:solidFill>
                <a:latin typeface="黑体"/>
                <a:ea typeface="黑体"/>
                <a:cs typeface="黑体"/>
              </a:rPr>
              <a:t>项目背景</a:t>
            </a:r>
            <a:endParaRPr sz="2000" dirty="0">
              <a:solidFill>
                <a:schemeClr val="bg1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932" name="Google Shape;532;p36">
            <a:extLst>
              <a:ext uri="{FF2B5EF4-FFF2-40B4-BE49-F238E27FC236}">
                <a16:creationId xmlns:a16="http://schemas.microsoft.com/office/drawing/2014/main" id="{6F98E871-560E-357B-4395-0415C970FF3F}"/>
              </a:ext>
            </a:extLst>
          </p:cNvPr>
          <p:cNvSpPr>
            <a:spLocks noGrp="1"/>
          </p:cNvSpPr>
          <p:nvPr/>
        </p:nvSpPr>
        <p:spPr>
          <a:xfrm>
            <a:off x="547513" y="513728"/>
            <a:ext cx="87630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chemeClr val="dk1"/>
                </a:solidFill>
                <a:latin typeface="Archivo"/>
                <a:ea typeface="Archivo"/>
                <a:cs typeface="Archivo"/>
              </a:defRPr>
            </a:lvl9pPr>
          </a:lstStyle>
          <a:p>
            <a:pPr>
              <a:defRPr sz="2025" b="1">
                <a:solidFill>
                  <a:srgbClr val="17233C"/>
                </a:solidFill>
              </a:defRPr>
            </a:pPr>
            <a:r>
              <a:rPr lang="zh-CN" altLang="en-US" sz="2400" b="0" dirty="0">
                <a:solidFill>
                  <a:srgbClr val="17233C"/>
                </a:solidFill>
                <a:latin typeface="楷体"/>
                <a:ea typeface="楷体"/>
                <a:cs typeface="楷体"/>
              </a:rPr>
              <a:t>成员分工</a:t>
            </a:r>
            <a:endParaRPr sz="2400" b="0" dirty="0">
              <a:solidFill>
                <a:srgbClr val="17233C"/>
              </a:solidFill>
              <a:latin typeface="楷体"/>
              <a:ea typeface="楷体"/>
              <a:cs typeface="楷体"/>
            </a:endParaRPr>
          </a:p>
        </p:txBody>
      </p:sp>
      <p:sp>
        <p:nvSpPr>
          <p:cNvPr id="933" name="Google Shape;1593;p77">
            <a:extLst>
              <a:ext uri="{FF2B5EF4-FFF2-40B4-BE49-F238E27FC236}">
                <a16:creationId xmlns:a16="http://schemas.microsoft.com/office/drawing/2014/main" id="{45D427E6-2C03-8BC4-C3FE-7FA583FB8F8E}"/>
              </a:ext>
            </a:extLst>
          </p:cNvPr>
          <p:cNvSpPr>
            <a:spLocks noGrp="1"/>
          </p:cNvSpPr>
          <p:nvPr/>
        </p:nvSpPr>
        <p:spPr>
          <a:xfrm>
            <a:off x="122803" y="619920"/>
            <a:ext cx="424710" cy="355891"/>
          </a:xfrm>
          <a:custGeom>
            <a:avLst/>
            <a:gdLst/>
            <a:ahLst/>
            <a:cxnLst/>
            <a:rect l="l" t="t" r="r" b="b"/>
            <a:pathLst>
              <a:path w="1956" h="2684">
                <a:moveTo>
                  <a:pt x="1" y="0"/>
                </a:moveTo>
                <a:lnTo>
                  <a:pt x="787" y="1342"/>
                </a:lnTo>
                <a:lnTo>
                  <a:pt x="1" y="2683"/>
                </a:lnTo>
                <a:lnTo>
                  <a:pt x="1955" y="1342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1000">
                <a:srgbClr val="FFFFFF"/>
              </a:gs>
              <a:gs pos="46000">
                <a:srgbClr val="869FC6"/>
              </a:gs>
              <a:gs pos="62000">
                <a:srgbClr val="29559A"/>
              </a:gs>
            </a:gsLst>
            <a:lin ang="2400000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1" name="文本框 930">
            <a:extLst>
              <a:ext uri="{FF2B5EF4-FFF2-40B4-BE49-F238E27FC236}">
                <a16:creationId xmlns:a16="http://schemas.microsoft.com/office/drawing/2014/main" id="{2BC8ADA3-2E93-CE86-94FC-67DD6565085E}"/>
              </a:ext>
            </a:extLst>
          </p:cNvPr>
          <p:cNvSpPr>
            <a:spLocks noGrp="1"/>
          </p:cNvSpPr>
          <p:nvPr/>
        </p:nvSpPr>
        <p:spPr>
          <a:xfrm>
            <a:off x="10797765" y="93915"/>
            <a:ext cx="1210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 err="1">
                <a:solidFill>
                  <a:srgbClr val="001942"/>
                </a:solidFill>
                <a:latin typeface="黑体"/>
                <a:ea typeface="黑体"/>
                <a:cs typeface="黑体"/>
              </a:rPr>
              <a:t>总结展望</a:t>
            </a:r>
            <a:endParaRPr sz="2000" dirty="0">
              <a:solidFill>
                <a:srgbClr val="001942"/>
              </a:solidFill>
              <a:latin typeface="黑体"/>
              <a:ea typeface="黑体"/>
              <a:cs typeface="黑体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11D34AD-80A3-FECF-3717-03C8C5FDEE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310305"/>
              </p:ext>
            </p:extLst>
          </p:nvPr>
        </p:nvGraphicFramePr>
        <p:xfrm>
          <a:off x="178191" y="1294228"/>
          <a:ext cx="11718387" cy="51277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6980">
                  <a:extLst>
                    <a:ext uri="{9D8B030D-6E8A-4147-A177-3AD203B41FA5}">
                      <a16:colId xmlns:a16="http://schemas.microsoft.com/office/drawing/2014/main" val="1315915531"/>
                    </a:ext>
                  </a:extLst>
                </a:gridCol>
                <a:gridCol w="2290284">
                  <a:extLst>
                    <a:ext uri="{9D8B030D-6E8A-4147-A177-3AD203B41FA5}">
                      <a16:colId xmlns:a16="http://schemas.microsoft.com/office/drawing/2014/main" val="2541902988"/>
                    </a:ext>
                  </a:extLst>
                </a:gridCol>
                <a:gridCol w="3732664">
                  <a:extLst>
                    <a:ext uri="{9D8B030D-6E8A-4147-A177-3AD203B41FA5}">
                      <a16:colId xmlns:a16="http://schemas.microsoft.com/office/drawing/2014/main" val="4193784224"/>
                    </a:ext>
                  </a:extLst>
                </a:gridCol>
                <a:gridCol w="2509196">
                  <a:extLst>
                    <a:ext uri="{9D8B030D-6E8A-4147-A177-3AD203B41FA5}">
                      <a16:colId xmlns:a16="http://schemas.microsoft.com/office/drawing/2014/main" val="863650589"/>
                    </a:ext>
                  </a:extLst>
                </a:gridCol>
                <a:gridCol w="1809263">
                  <a:extLst>
                    <a:ext uri="{9D8B030D-6E8A-4147-A177-3AD203B41FA5}">
                      <a16:colId xmlns:a16="http://schemas.microsoft.com/office/drawing/2014/main" val="1349700063"/>
                    </a:ext>
                  </a:extLst>
                </a:gridCol>
              </a:tblGrid>
              <a:tr h="5852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姓名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学号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分工任务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265224"/>
                  </a:ext>
                </a:extLst>
              </a:tr>
              <a:tr h="5852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石振宇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2024090901010</a:t>
                      </a:r>
                      <a:endParaRPr lang="zh-CN" altLang="en-US" sz="20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硬件嵌入式开发、测试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完成</a:t>
                      </a:r>
                      <a:r>
                        <a:rPr lang="en-US" altLang="zh-CN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《</a:t>
                      </a:r>
                      <a:r>
                        <a:rPr lang="zh-CN" altLang="en-US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报告书</a:t>
                      </a:r>
                      <a:r>
                        <a:rPr lang="en-US" altLang="zh-CN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》</a:t>
                      </a:r>
                      <a:endParaRPr lang="zh-CN" altLang="en-US" sz="20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项目人员管理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946648"/>
                  </a:ext>
                </a:extLst>
              </a:tr>
              <a:tr h="101087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王昕宇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2024090914017</a:t>
                      </a:r>
                      <a:endParaRPr lang="zh-CN" altLang="en-US" sz="20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后端开发数据库设计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完成</a:t>
                      </a:r>
                      <a:r>
                        <a:rPr lang="en-US" altLang="zh-CN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《</a:t>
                      </a:r>
                      <a:r>
                        <a:rPr lang="zh-CN" altLang="en-US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报告书</a:t>
                      </a:r>
                      <a:r>
                        <a:rPr lang="en-US" altLang="zh-CN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》</a:t>
                      </a:r>
                    </a:p>
                    <a:p>
                      <a:pPr algn="ctr"/>
                      <a:endParaRPr lang="zh-CN" altLang="en-US" sz="20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0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7528788"/>
                  </a:ext>
                </a:extLst>
              </a:tr>
              <a:tr h="743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赖伊卡</a:t>
                      </a:r>
                    </a:p>
                    <a:p>
                      <a:pPr algn="ctr"/>
                      <a:endParaRPr lang="zh-CN" altLang="en-US" sz="20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2024090914022</a:t>
                      </a:r>
                      <a:endParaRPr lang="zh-CN" altLang="en-US" sz="20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后端开发数据库设计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完成</a:t>
                      </a:r>
                      <a:r>
                        <a:rPr lang="en-US" altLang="zh-CN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《</a:t>
                      </a:r>
                      <a:r>
                        <a:rPr lang="zh-CN" altLang="en-US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报告书</a:t>
                      </a:r>
                      <a:r>
                        <a:rPr lang="en-US" altLang="zh-CN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》</a:t>
                      </a:r>
                      <a:endParaRPr lang="zh-CN" altLang="en-US" sz="20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答辩</a:t>
                      </a:r>
                      <a:r>
                        <a:rPr lang="en-US" altLang="zh-CN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PPT</a:t>
                      </a:r>
                      <a:r>
                        <a:rPr lang="zh-CN" altLang="en-US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制作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4932174"/>
                  </a:ext>
                </a:extLst>
              </a:tr>
              <a:tr h="71610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马望舒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2024090903026</a:t>
                      </a:r>
                      <a:endParaRPr lang="zh-CN" altLang="en-US" sz="20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前端开发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完成</a:t>
                      </a:r>
                      <a:r>
                        <a:rPr lang="en-US" altLang="zh-CN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《</a:t>
                      </a:r>
                      <a:r>
                        <a:rPr lang="zh-CN" altLang="en-US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报告书</a:t>
                      </a:r>
                      <a:r>
                        <a:rPr lang="en-US" altLang="zh-CN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》</a:t>
                      </a:r>
                      <a:endParaRPr lang="zh-CN" altLang="en-US" sz="20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答辩</a:t>
                      </a:r>
                      <a:r>
                        <a:rPr lang="en-US" altLang="zh-CN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PPT</a:t>
                      </a:r>
                      <a:r>
                        <a:rPr lang="zh-CN" altLang="en-US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制作</a:t>
                      </a:r>
                    </a:p>
                    <a:p>
                      <a:pPr algn="ctr"/>
                      <a:endParaRPr lang="zh-CN" altLang="en-US" sz="20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5397657"/>
                  </a:ext>
                </a:extLst>
              </a:tr>
              <a:tr h="74342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朱健予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2024090901023</a:t>
                      </a:r>
                      <a:endParaRPr lang="zh-CN" altLang="en-US" sz="20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加密算法设计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完成</a:t>
                      </a:r>
                      <a:r>
                        <a:rPr lang="en-US" altLang="zh-CN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《</a:t>
                      </a:r>
                      <a:r>
                        <a:rPr lang="zh-CN" altLang="en-US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报告书</a:t>
                      </a:r>
                      <a:r>
                        <a:rPr lang="en-US" altLang="zh-CN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》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0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1207629"/>
                  </a:ext>
                </a:extLst>
              </a:tr>
              <a:tr h="74342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胡李嘉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2024090902019</a:t>
                      </a:r>
                      <a:endParaRPr lang="zh-CN" altLang="en-US" sz="20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基于深度学习的人脸检测与比对</a:t>
                      </a:r>
                      <a:endParaRPr lang="zh-CN" altLang="en-US" sz="20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完成</a:t>
                      </a:r>
                      <a:r>
                        <a:rPr lang="en-US" altLang="zh-CN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《</a:t>
                      </a:r>
                      <a:r>
                        <a:rPr lang="zh-CN" altLang="en-US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报告书</a:t>
                      </a:r>
                      <a:r>
                        <a:rPr lang="en-US" altLang="zh-CN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》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0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1633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0279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simple and cool abstract background design suitable for ppt backgrounds and  others, ppt backgrounds 17439825 Vector Art at Vecteezy">
            <a:extLst>
              <a:ext uri="{FF2B5EF4-FFF2-40B4-BE49-F238E27FC236}">
                <a16:creationId xmlns:a16="http://schemas.microsoft.com/office/drawing/2014/main" id="{77D03A4F-41D5-CDE6-0CBC-7C177CE3A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155ECC5-CB9F-3AFC-D1AB-F13F0A5680EF}"/>
              </a:ext>
            </a:extLst>
          </p:cNvPr>
          <p:cNvSpPr/>
          <p:nvPr/>
        </p:nvSpPr>
        <p:spPr>
          <a:xfrm>
            <a:off x="2973075" y="2553325"/>
            <a:ext cx="5941050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88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Thank You!</a:t>
            </a:r>
            <a:endParaRPr lang="zh-CN" altLang="en-US" sz="88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5368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500</Words>
  <Application>Microsoft Office PowerPoint</Application>
  <DocSecurity>0</DocSecurity>
  <PresentationFormat>宽屏</PresentationFormat>
  <Paragraphs>230</Paragraphs>
  <Slides>14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等线</vt:lpstr>
      <vt:lpstr>等线 Light</vt:lpstr>
      <vt:lpstr>华文仿宋</vt:lpstr>
      <vt:lpstr>Times New Roman</vt:lpstr>
      <vt:lpstr>黑体</vt:lpstr>
      <vt:lpstr>楷体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本豆 豆</cp:lastModifiedBy>
  <cp:revision>45</cp:revision>
  <dcterms:created xsi:type="dcterms:W3CDTF">2026-07-01T13:00:55Z</dcterms:created>
  <dcterms:modified xsi:type="dcterms:W3CDTF">2026-07-01T16:26:01Z</dcterms:modified>
</cp:coreProperties>
</file>